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305" r:id="rId2"/>
    <p:sldId id="306" r:id="rId3"/>
    <p:sldId id="307" r:id="rId4"/>
    <p:sldId id="308" r:id="rId5"/>
    <p:sldId id="309" r:id="rId6"/>
    <p:sldId id="310" r:id="rId7"/>
    <p:sldId id="312" r:id="rId8"/>
    <p:sldId id="313" r:id="rId9"/>
    <p:sldId id="311" r:id="rId10"/>
    <p:sldId id="31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32D79-BAB0-4165-87C8-4E3256F66E81}" type="datetimeFigureOut">
              <a:rPr lang="en-IN" smtClean="0"/>
              <a:t>04-10-2026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F4A08-67A5-4AA6-BA35-3667AEE6591C}" type="slidenum">
              <a:rPr lang="en-IN" smtClean="0"/>
              <a:t>‹#›</a:t>
            </a:fld>
            <a:endParaRPr lang="en-IN"/>
          </a:p>
        </p:txBody>
      </p:sp>
    </p:spTree>
    <p:extLst>
      <p:ext uri="{BB962C8B-B14F-4D97-AF65-F5344CB8AC3E}">
        <p14:creationId xmlns:p14="http://schemas.microsoft.com/office/powerpoint/2010/main" val="338458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1EA169-1CE1-4330-855B-DB46E486541F}" type="slidenum">
              <a:rPr lang="en-IN" smtClean="0"/>
              <a:t>4</a:t>
            </a:fld>
            <a:endParaRPr lang="en-IN"/>
          </a:p>
        </p:txBody>
      </p:sp>
    </p:spTree>
    <p:extLst>
      <p:ext uri="{BB962C8B-B14F-4D97-AF65-F5344CB8AC3E}">
        <p14:creationId xmlns:p14="http://schemas.microsoft.com/office/powerpoint/2010/main" val="389345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8F880-F3D6-8B84-ACAE-1EA011FEA8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70ABA2-A40A-3B5F-597C-69EBA728F3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03476-F5EB-CD58-C1C9-22FBC427A8FA}"/>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5" name="Footer Placeholder 4">
            <a:extLst>
              <a:ext uri="{FF2B5EF4-FFF2-40B4-BE49-F238E27FC236}">
                <a16:creationId xmlns:a16="http://schemas.microsoft.com/office/drawing/2014/main" id="{6BDB50D0-01C2-4021-A7A5-05EF20CA38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66ED24-B2E5-27F7-C363-8EA0426031BA}"/>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1388364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9CBA-E12E-CC6F-9E3A-D8BD9589FF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432B4A-A3F5-C0D4-B514-D3193812ED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CB3FD8-256C-5870-E7BE-6D2483265F32}"/>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5" name="Footer Placeholder 4">
            <a:extLst>
              <a:ext uri="{FF2B5EF4-FFF2-40B4-BE49-F238E27FC236}">
                <a16:creationId xmlns:a16="http://schemas.microsoft.com/office/drawing/2014/main" id="{4118FD4A-1177-A37F-BD20-5D48E5395E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A894E0-7283-2C02-46F6-18CA6F731662}"/>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2700877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0997-881D-0A4E-CB89-AA7F4D4B0E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272E78-499C-6372-EC98-78E864F0B0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D70EA7-31E2-052E-FB89-56ADC62B5D00}"/>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5" name="Footer Placeholder 4">
            <a:extLst>
              <a:ext uri="{FF2B5EF4-FFF2-40B4-BE49-F238E27FC236}">
                <a16:creationId xmlns:a16="http://schemas.microsoft.com/office/drawing/2014/main" id="{E913E73C-D740-B967-2F88-14DF39620C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F3B170-AA04-679C-9910-B791EF4E8286}"/>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34860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D14F-0582-7D6E-3216-690508541A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589629-751B-9F6A-93A9-B0B8BFF3C1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4174F2-9440-8CBB-85D6-689A05183F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4D39DE-ED10-1D2E-28F3-183AAF662B8F}"/>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6" name="Footer Placeholder 5">
            <a:extLst>
              <a:ext uri="{FF2B5EF4-FFF2-40B4-BE49-F238E27FC236}">
                <a16:creationId xmlns:a16="http://schemas.microsoft.com/office/drawing/2014/main" id="{C58B0B55-1EB6-FAFE-F176-182720B4B5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45CD78-12A9-B186-B6AF-CF9249BD6339}"/>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2362976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B495-1A6B-8F40-CDEB-448CC476B5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1BEC85-370D-7901-46A0-6FE355791F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B99D9-8BDD-7EEE-A2F7-99F42F7457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956C9BE-B7AA-2539-1A73-0AAB7F7A16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BB129D-5DAA-BF8D-0D61-BD2F728956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F1A6D5-34D6-2FE7-FDEF-1208A17AB2E4}"/>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8" name="Footer Placeholder 7">
            <a:extLst>
              <a:ext uri="{FF2B5EF4-FFF2-40B4-BE49-F238E27FC236}">
                <a16:creationId xmlns:a16="http://schemas.microsoft.com/office/drawing/2014/main" id="{86E0E7F6-EA98-4E0B-925C-267BF93365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3B0322-EED3-F2CD-4655-6821906B67C3}"/>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1617122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BCB1E-C16D-BAA0-DBEF-480FC227B2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BED0D3-FA62-4A98-C421-ECE3CA6FE266}"/>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4" name="Footer Placeholder 3">
            <a:extLst>
              <a:ext uri="{FF2B5EF4-FFF2-40B4-BE49-F238E27FC236}">
                <a16:creationId xmlns:a16="http://schemas.microsoft.com/office/drawing/2014/main" id="{FDD68C61-A870-5421-8A6E-570160F241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10BC8D-81C7-2706-CDAA-7A74AA474C54}"/>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3898567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3CF1CC-6AD9-727E-5D81-2353368AB72E}"/>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3" name="Footer Placeholder 2">
            <a:extLst>
              <a:ext uri="{FF2B5EF4-FFF2-40B4-BE49-F238E27FC236}">
                <a16:creationId xmlns:a16="http://schemas.microsoft.com/office/drawing/2014/main" id="{86CC45DD-F506-80B4-2186-38C8F78D39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E97994-8D1F-5BC6-5335-BF1ADEEA05B6}"/>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2077111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CA9A-0FFF-519E-B450-4DEF72697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1DD588-A34B-FFEA-CA47-D5F4B59251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33D3A2-D9D0-C398-B257-630B34B80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3A65F6-F3CF-9B87-B188-96457C510E64}"/>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6" name="Footer Placeholder 5">
            <a:extLst>
              <a:ext uri="{FF2B5EF4-FFF2-40B4-BE49-F238E27FC236}">
                <a16:creationId xmlns:a16="http://schemas.microsoft.com/office/drawing/2014/main" id="{9306568F-731C-C3C4-9250-337579A12F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9BF337-9DDC-A589-AFF3-697629C69A4D}"/>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2531621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53AC-5EEE-EA80-E623-8E43241F91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F9B25B-416E-3909-5FC1-4CEA02404B3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FC4BA40-E059-5D0D-4B10-7E190FBF6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9D47B-E02D-DDA2-1C8B-3A0B5448905B}"/>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6" name="Footer Placeholder 5">
            <a:extLst>
              <a:ext uri="{FF2B5EF4-FFF2-40B4-BE49-F238E27FC236}">
                <a16:creationId xmlns:a16="http://schemas.microsoft.com/office/drawing/2014/main" id="{7973FCA9-5D75-95D4-88A6-8597EF6381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3A31F5-8BEA-4545-E153-1AE75A63440E}"/>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187145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4AE55-402B-C138-E9DA-B0983E14161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B585F8-FD1D-A817-8DAD-D0126B831C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52C1F5-AB50-B2CB-05A2-5459A284BB35}"/>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5" name="Footer Placeholder 4">
            <a:extLst>
              <a:ext uri="{FF2B5EF4-FFF2-40B4-BE49-F238E27FC236}">
                <a16:creationId xmlns:a16="http://schemas.microsoft.com/office/drawing/2014/main" id="{F76995B3-491E-073C-4B08-5E2317C67A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A96688-C91F-E2B8-CFD2-9824325FB91B}"/>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2527523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D87D9F-9269-B020-FD01-D7F0C1C9DD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996AB6-3FD7-BBFD-459D-C2CA52D713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077190-99CF-E3D3-65C9-C25E43A9065C}"/>
              </a:ext>
            </a:extLst>
          </p:cNvPr>
          <p:cNvSpPr>
            <a:spLocks noGrp="1"/>
          </p:cNvSpPr>
          <p:nvPr>
            <p:ph type="dt" sz="half" idx="10"/>
          </p:nvPr>
        </p:nvSpPr>
        <p:spPr/>
        <p:txBody>
          <a:bodyPr/>
          <a:lstStyle/>
          <a:p>
            <a:fld id="{FACA465D-33F2-4B81-9701-89A2AD00E4AB}" type="datetimeFigureOut">
              <a:rPr lang="en-IN" smtClean="0"/>
              <a:t>04-10-2026</a:t>
            </a:fld>
            <a:endParaRPr lang="en-IN"/>
          </a:p>
        </p:txBody>
      </p:sp>
      <p:sp>
        <p:nvSpPr>
          <p:cNvPr id="5" name="Footer Placeholder 4">
            <a:extLst>
              <a:ext uri="{FF2B5EF4-FFF2-40B4-BE49-F238E27FC236}">
                <a16:creationId xmlns:a16="http://schemas.microsoft.com/office/drawing/2014/main" id="{D61C350B-7FE5-5242-BD85-139A0B9A3A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4261F7-B5A6-AA7E-9EF4-1C25752C9973}"/>
              </a:ext>
            </a:extLst>
          </p:cNvPr>
          <p:cNvSpPr>
            <a:spLocks noGrp="1"/>
          </p:cNvSpPr>
          <p:nvPr>
            <p:ph type="sldNum" sz="quarter" idx="12"/>
          </p:nvPr>
        </p:nvSpPr>
        <p:spPr/>
        <p:txBody>
          <a:bodyPr/>
          <a:lstStyle/>
          <a:p>
            <a:fld id="{774CA891-F90C-4B5B-9706-97BFD7529892}" type="slidenum">
              <a:rPr lang="en-IN" smtClean="0"/>
              <a:t>‹#›</a:t>
            </a:fld>
            <a:endParaRPr lang="en-IN"/>
          </a:p>
        </p:txBody>
      </p:sp>
    </p:spTree>
    <p:extLst>
      <p:ext uri="{BB962C8B-B14F-4D97-AF65-F5344CB8AC3E}">
        <p14:creationId xmlns:p14="http://schemas.microsoft.com/office/powerpoint/2010/main" val="1802572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8ACDEE-3243-7F2B-CE2F-3BC709B832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D5AD2F-5068-8139-25BD-395A1F11CC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A4D945-934C-79A7-1686-6FF7ADE99D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CA465D-33F2-4B81-9701-89A2AD00E4AB}" type="datetimeFigureOut">
              <a:rPr lang="en-IN" smtClean="0"/>
              <a:t>04-10-2026</a:t>
            </a:fld>
            <a:endParaRPr lang="en-IN"/>
          </a:p>
        </p:txBody>
      </p:sp>
      <p:sp>
        <p:nvSpPr>
          <p:cNvPr id="5" name="Footer Placeholder 4">
            <a:extLst>
              <a:ext uri="{FF2B5EF4-FFF2-40B4-BE49-F238E27FC236}">
                <a16:creationId xmlns:a16="http://schemas.microsoft.com/office/drawing/2014/main" id="{195808E3-510A-5B6A-A68A-FEE563D524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BAB3E2-7C1E-FC66-D0DA-B142761AAA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4CA891-F90C-4B5B-9706-97BFD7529892}" type="slidenum">
              <a:rPr lang="en-IN" smtClean="0"/>
              <a:t>‹#›</a:t>
            </a:fld>
            <a:endParaRPr lang="en-IN"/>
          </a:p>
        </p:txBody>
      </p:sp>
    </p:spTree>
    <p:extLst>
      <p:ext uri="{BB962C8B-B14F-4D97-AF65-F5344CB8AC3E}">
        <p14:creationId xmlns:p14="http://schemas.microsoft.com/office/powerpoint/2010/main" val="2813448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7A8701-F2E1-5D42-F11C-A962C46BBBC5}"/>
              </a:ext>
            </a:extLst>
          </p:cNvPr>
          <p:cNvSpPr txBox="1"/>
          <p:nvPr/>
        </p:nvSpPr>
        <p:spPr>
          <a:xfrm>
            <a:off x="1248697" y="0"/>
            <a:ext cx="10746658" cy="523220"/>
          </a:xfrm>
          <a:prstGeom prst="rect">
            <a:avLst/>
          </a:prstGeom>
          <a:noFill/>
        </p:spPr>
        <p:txBody>
          <a:bodyPr wrap="square">
            <a:spAutoFit/>
          </a:bodyPr>
          <a:lstStyle/>
          <a:p>
            <a:r>
              <a:rPr lang="en-US" sz="2800" b="1" dirty="0">
                <a:solidFill>
                  <a:srgbClr val="00B0F0"/>
                </a:solidFill>
              </a:rPr>
              <a:t>Sharing within the same organization/same Snowflake account </a:t>
            </a:r>
            <a:endParaRPr lang="en-IN" sz="2800" b="1" dirty="0">
              <a:solidFill>
                <a:srgbClr val="00B0F0"/>
              </a:solidFill>
            </a:endParaRPr>
          </a:p>
        </p:txBody>
      </p:sp>
      <p:sp>
        <p:nvSpPr>
          <p:cNvPr id="4" name="Rectangle 3">
            <a:extLst>
              <a:ext uri="{FF2B5EF4-FFF2-40B4-BE49-F238E27FC236}">
                <a16:creationId xmlns:a16="http://schemas.microsoft.com/office/drawing/2014/main" id="{CAFAA231-3418-1743-D372-D2331AF69829}"/>
              </a:ext>
            </a:extLst>
          </p:cNvPr>
          <p:cNvSpPr/>
          <p:nvPr/>
        </p:nvSpPr>
        <p:spPr>
          <a:xfrm>
            <a:off x="0" y="792101"/>
            <a:ext cx="2841523" cy="5232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Secure Data Sharing</a:t>
            </a:r>
            <a:endParaRPr lang="en-IN" sz="2400" b="1" dirty="0"/>
          </a:p>
        </p:txBody>
      </p:sp>
      <p:sp>
        <p:nvSpPr>
          <p:cNvPr id="6" name="TextBox 5">
            <a:extLst>
              <a:ext uri="{FF2B5EF4-FFF2-40B4-BE49-F238E27FC236}">
                <a16:creationId xmlns:a16="http://schemas.microsoft.com/office/drawing/2014/main" id="{870B8B10-7F27-7604-2A47-8FAF4E1CB8D0}"/>
              </a:ext>
            </a:extLst>
          </p:cNvPr>
          <p:cNvSpPr txBox="1"/>
          <p:nvPr/>
        </p:nvSpPr>
        <p:spPr>
          <a:xfrm>
            <a:off x="1179871" y="1584202"/>
            <a:ext cx="10884309" cy="646331"/>
          </a:xfrm>
          <a:prstGeom prst="rect">
            <a:avLst/>
          </a:prstGeom>
          <a:noFill/>
        </p:spPr>
        <p:txBody>
          <a:bodyPr wrap="square">
            <a:spAutoFit/>
          </a:bodyPr>
          <a:lstStyle/>
          <a:p>
            <a:pPr algn="just"/>
            <a:r>
              <a:rPr lang="en-IN" dirty="0"/>
              <a:t>enables read-only access to live data without moving or copying it. Data providers create a share, grant access to specific database objects (tables, secure views), and add consumer accounts, typically within the same region.</a:t>
            </a:r>
          </a:p>
        </p:txBody>
      </p:sp>
      <p:sp>
        <p:nvSpPr>
          <p:cNvPr id="8" name="TextBox 7">
            <a:extLst>
              <a:ext uri="{FF2B5EF4-FFF2-40B4-BE49-F238E27FC236}">
                <a16:creationId xmlns:a16="http://schemas.microsoft.com/office/drawing/2014/main" id="{41B21502-308B-226B-2C2D-D3FD15930360}"/>
              </a:ext>
            </a:extLst>
          </p:cNvPr>
          <p:cNvSpPr txBox="1"/>
          <p:nvPr/>
        </p:nvSpPr>
        <p:spPr>
          <a:xfrm>
            <a:off x="-24581" y="2505919"/>
            <a:ext cx="12192000" cy="4001095"/>
          </a:xfrm>
          <a:prstGeom prst="rect">
            <a:avLst/>
          </a:prstGeom>
          <a:noFill/>
        </p:spPr>
        <p:txBody>
          <a:bodyPr wrap="square">
            <a:spAutoFit/>
          </a:bodyPr>
          <a:lstStyle/>
          <a:p>
            <a:pPr algn="ctr"/>
            <a:r>
              <a:rPr lang="en-IN" sz="2800" dirty="0">
                <a:solidFill>
                  <a:srgbClr val="00B0F0"/>
                </a:solidFill>
              </a:rPr>
              <a:t>Key Concepts for Same-Org/Account Sharing</a:t>
            </a:r>
          </a:p>
          <a:p>
            <a:pPr algn="ctr"/>
            <a:endParaRPr lang="en-IN" sz="2800" dirty="0">
              <a:solidFill>
                <a:srgbClr val="00B0F0"/>
              </a:solidFill>
            </a:endParaRPr>
          </a:p>
          <a:p>
            <a:r>
              <a:rPr lang="en-IN" b="1" dirty="0"/>
              <a:t>No Data Movement: </a:t>
            </a:r>
            <a:r>
              <a:rPr lang="en-IN" dirty="0"/>
              <a:t>Shared data is live; updates in the provider account are immediately visible to consumer accounts.</a:t>
            </a:r>
          </a:p>
          <a:p>
            <a:endParaRPr lang="en-IN" dirty="0"/>
          </a:p>
          <a:p>
            <a:endParaRPr lang="en-IN" dirty="0"/>
          </a:p>
          <a:p>
            <a:r>
              <a:rPr lang="en-IN" b="1" dirty="0"/>
              <a:t>Storage &amp; Compute Costs: </a:t>
            </a:r>
            <a:r>
              <a:rPr lang="en-IN" dirty="0"/>
              <a:t>The provider pays for storing the shared data, while the consumer pays for the compute resources used to query the data.</a:t>
            </a:r>
          </a:p>
          <a:p>
            <a:endParaRPr lang="en-IN" b="1" dirty="0"/>
          </a:p>
          <a:p>
            <a:endParaRPr lang="en-IN" b="1" dirty="0"/>
          </a:p>
          <a:p>
            <a:r>
              <a:rPr lang="en-IN" b="1" dirty="0"/>
              <a:t>Read-Only Access: </a:t>
            </a:r>
            <a:r>
              <a:rPr lang="en-IN" dirty="0"/>
              <a:t>Shared databases are read-only. Consumers cannot modify data or create new objects in the shared database.</a:t>
            </a:r>
          </a:p>
          <a:p>
            <a:endParaRPr lang="en-IN" dirty="0"/>
          </a:p>
          <a:p>
            <a:endParaRPr lang="en-IN" dirty="0"/>
          </a:p>
          <a:p>
            <a:r>
              <a:rPr lang="en-IN" b="1" dirty="0"/>
              <a:t>Scope: </a:t>
            </a:r>
            <a:r>
              <a:rPr lang="en-IN" dirty="0"/>
              <a:t>Sharing is typically intended for different Snowflake accounts within the same region.</a:t>
            </a:r>
          </a:p>
        </p:txBody>
      </p:sp>
    </p:spTree>
    <p:extLst>
      <p:ext uri="{BB962C8B-B14F-4D97-AF65-F5344CB8AC3E}">
        <p14:creationId xmlns:p14="http://schemas.microsoft.com/office/powerpoint/2010/main" val="248472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0E587A-B836-88A5-EDF7-FB07156D0B54}"/>
              </a:ext>
            </a:extLst>
          </p:cNvPr>
          <p:cNvSpPr txBox="1"/>
          <p:nvPr/>
        </p:nvSpPr>
        <p:spPr>
          <a:xfrm>
            <a:off x="3972232" y="0"/>
            <a:ext cx="6096000" cy="523220"/>
          </a:xfrm>
          <a:prstGeom prst="rect">
            <a:avLst/>
          </a:prstGeom>
          <a:noFill/>
        </p:spPr>
        <p:txBody>
          <a:bodyPr wrap="square">
            <a:spAutoFit/>
          </a:bodyPr>
          <a:lstStyle/>
          <a:p>
            <a:r>
              <a:rPr lang="en-US" sz="2800" b="1" dirty="0">
                <a:solidFill>
                  <a:srgbClr val="00B0F0"/>
                </a:solidFill>
              </a:rPr>
              <a:t>Sharing within a cloud region</a:t>
            </a:r>
            <a:endParaRPr lang="en-IN" sz="2800" b="1" dirty="0">
              <a:solidFill>
                <a:srgbClr val="00B0F0"/>
              </a:solidFill>
            </a:endParaRPr>
          </a:p>
        </p:txBody>
      </p:sp>
      <p:sp>
        <p:nvSpPr>
          <p:cNvPr id="4" name="Rectangle 3">
            <a:extLst>
              <a:ext uri="{FF2B5EF4-FFF2-40B4-BE49-F238E27FC236}">
                <a16:creationId xmlns:a16="http://schemas.microsoft.com/office/drawing/2014/main" id="{4A5E999D-D23C-564D-E56A-DD3FBB157A56}"/>
              </a:ext>
            </a:extLst>
          </p:cNvPr>
          <p:cNvSpPr/>
          <p:nvPr/>
        </p:nvSpPr>
        <p:spPr>
          <a:xfrm>
            <a:off x="0" y="523220"/>
            <a:ext cx="2222090" cy="43050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t>Direct Shares</a:t>
            </a:r>
            <a:endParaRPr lang="en-IN" sz="2800" b="1" dirty="0"/>
          </a:p>
        </p:txBody>
      </p:sp>
      <p:sp>
        <p:nvSpPr>
          <p:cNvPr id="6" name="TextBox 5">
            <a:extLst>
              <a:ext uri="{FF2B5EF4-FFF2-40B4-BE49-F238E27FC236}">
                <a16:creationId xmlns:a16="http://schemas.microsoft.com/office/drawing/2014/main" id="{7D242536-9139-15AD-345B-AABEAF25743C}"/>
              </a:ext>
            </a:extLst>
          </p:cNvPr>
          <p:cNvSpPr txBox="1"/>
          <p:nvPr/>
        </p:nvSpPr>
        <p:spPr>
          <a:xfrm>
            <a:off x="1622323" y="1115565"/>
            <a:ext cx="10569677" cy="1200329"/>
          </a:xfrm>
          <a:prstGeom prst="rect">
            <a:avLst/>
          </a:prstGeom>
          <a:noFill/>
        </p:spPr>
        <p:txBody>
          <a:bodyPr wrap="square">
            <a:spAutoFit/>
          </a:bodyPr>
          <a:lstStyle/>
          <a:p>
            <a:r>
              <a:rPr lang="en-IN" dirty="0"/>
              <a:t>Direct Shares provide instant, read-only access to live data without moving or copying it. Both provider and consumer accounts must exist in the same region, allowing for 1:1 or 1:Many sharing. </a:t>
            </a:r>
          </a:p>
          <a:p>
            <a:endParaRPr lang="en-IN" dirty="0"/>
          </a:p>
          <a:p>
            <a:r>
              <a:rPr lang="en-IN" dirty="0"/>
              <a:t>Please note that consumer will only pay for compute costs.</a:t>
            </a:r>
          </a:p>
        </p:txBody>
      </p:sp>
      <p:sp>
        <p:nvSpPr>
          <p:cNvPr id="8" name="TextBox 7">
            <a:extLst>
              <a:ext uri="{FF2B5EF4-FFF2-40B4-BE49-F238E27FC236}">
                <a16:creationId xmlns:a16="http://schemas.microsoft.com/office/drawing/2014/main" id="{1A87E9AE-EF78-E22D-15E2-C7DFEB76B5E3}"/>
              </a:ext>
            </a:extLst>
          </p:cNvPr>
          <p:cNvSpPr txBox="1"/>
          <p:nvPr/>
        </p:nvSpPr>
        <p:spPr>
          <a:xfrm>
            <a:off x="-68826" y="2133601"/>
            <a:ext cx="12260826" cy="4555093"/>
          </a:xfrm>
          <a:prstGeom prst="rect">
            <a:avLst/>
          </a:prstGeom>
          <a:noFill/>
        </p:spPr>
        <p:txBody>
          <a:bodyPr wrap="square">
            <a:spAutoFit/>
          </a:bodyPr>
          <a:lstStyle/>
          <a:p>
            <a:endParaRPr lang="en-IN" dirty="0"/>
          </a:p>
          <a:p>
            <a:pPr algn="ctr"/>
            <a:r>
              <a:rPr lang="en-IN" sz="2800" b="1" dirty="0">
                <a:solidFill>
                  <a:srgbClr val="00B0F0"/>
                </a:solidFill>
              </a:rPr>
              <a:t>Key Aspects of Same-Region Sharing:</a:t>
            </a:r>
          </a:p>
          <a:p>
            <a:pPr algn="ctr"/>
            <a:endParaRPr lang="en-IN" sz="2800" b="1" dirty="0">
              <a:solidFill>
                <a:srgbClr val="00B0F0"/>
              </a:solidFill>
            </a:endParaRPr>
          </a:p>
          <a:p>
            <a:r>
              <a:rPr lang="en-IN" b="1" dirty="0"/>
              <a:t>Performance &amp; Cost: </a:t>
            </a:r>
            <a:r>
              <a:rPr lang="en-IN" dirty="0"/>
              <a:t>Zero-copy cloning eliminates storage costs for shared data; data is not moved or copied, ensuring live updates.</a:t>
            </a:r>
          </a:p>
          <a:p>
            <a:endParaRPr lang="en-IN" dirty="0"/>
          </a:p>
          <a:p>
            <a:endParaRPr lang="en-IN" dirty="0"/>
          </a:p>
          <a:p>
            <a:r>
              <a:rPr lang="en-IN" b="1" dirty="0"/>
              <a:t>Security: </a:t>
            </a:r>
            <a:r>
              <a:rPr lang="en-IN" dirty="0"/>
              <a:t>Data is shared directly from the provider database to the consumer account. Secure views can be utilized to restrict access.</a:t>
            </a:r>
          </a:p>
          <a:p>
            <a:endParaRPr lang="en-IN" dirty="0"/>
          </a:p>
          <a:p>
            <a:endParaRPr lang="en-IN" dirty="0"/>
          </a:p>
          <a:p>
            <a:r>
              <a:rPr lang="en-IN" b="1" dirty="0"/>
              <a:t>Mechanism: </a:t>
            </a:r>
            <a:r>
              <a:rPr lang="en-IN" dirty="0"/>
              <a:t>Providers create a share, add objects (tables, secure views), and grant access to specific consumer accounts.</a:t>
            </a:r>
          </a:p>
          <a:p>
            <a:endParaRPr lang="en-IN" dirty="0"/>
          </a:p>
          <a:p>
            <a:endParaRPr lang="en-IN" dirty="0"/>
          </a:p>
          <a:p>
            <a:r>
              <a:rPr lang="en-IN" b="1" dirty="0"/>
              <a:t>Limitations: </a:t>
            </a:r>
            <a:r>
              <a:rPr lang="en-IN" dirty="0"/>
              <a:t>Shared databases are read-only and cannot be re-shared.</a:t>
            </a:r>
          </a:p>
        </p:txBody>
      </p:sp>
    </p:spTree>
    <p:extLst>
      <p:ext uri="{BB962C8B-B14F-4D97-AF65-F5344CB8AC3E}">
        <p14:creationId xmlns:p14="http://schemas.microsoft.com/office/powerpoint/2010/main" val="252410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135BC6-BC19-2DB3-3A5C-BAFFA09BA532}"/>
              </a:ext>
            </a:extLst>
          </p:cNvPr>
          <p:cNvSpPr txBox="1"/>
          <p:nvPr/>
        </p:nvSpPr>
        <p:spPr>
          <a:xfrm>
            <a:off x="3785419" y="0"/>
            <a:ext cx="6096000" cy="523220"/>
          </a:xfrm>
          <a:prstGeom prst="rect">
            <a:avLst/>
          </a:prstGeom>
          <a:noFill/>
        </p:spPr>
        <p:txBody>
          <a:bodyPr wrap="square">
            <a:spAutoFit/>
          </a:bodyPr>
          <a:lstStyle/>
          <a:p>
            <a:r>
              <a:rPr lang="en-IN" sz="2800" b="1" dirty="0">
                <a:solidFill>
                  <a:srgbClr val="00B0F0"/>
                </a:solidFill>
              </a:rPr>
              <a:t>Sharing across cloud regions</a:t>
            </a:r>
          </a:p>
        </p:txBody>
      </p:sp>
      <p:sp>
        <p:nvSpPr>
          <p:cNvPr id="4" name="Rectangle 3">
            <a:extLst>
              <a:ext uri="{FF2B5EF4-FFF2-40B4-BE49-F238E27FC236}">
                <a16:creationId xmlns:a16="http://schemas.microsoft.com/office/drawing/2014/main" id="{230425A3-3574-EDED-8A57-E60D944C8A7E}"/>
              </a:ext>
            </a:extLst>
          </p:cNvPr>
          <p:cNvSpPr/>
          <p:nvPr/>
        </p:nvSpPr>
        <p:spPr>
          <a:xfrm>
            <a:off x="0" y="690369"/>
            <a:ext cx="2753032" cy="5232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000" b="1" dirty="0"/>
              <a:t>DATABASE REPLICATION</a:t>
            </a:r>
            <a:endParaRPr lang="en-IN" sz="2000" b="1" dirty="0"/>
          </a:p>
        </p:txBody>
      </p:sp>
      <p:sp>
        <p:nvSpPr>
          <p:cNvPr id="6" name="TextBox 5">
            <a:extLst>
              <a:ext uri="{FF2B5EF4-FFF2-40B4-BE49-F238E27FC236}">
                <a16:creationId xmlns:a16="http://schemas.microsoft.com/office/drawing/2014/main" id="{F7D553EC-7582-6873-FB84-8233C7590752}"/>
              </a:ext>
            </a:extLst>
          </p:cNvPr>
          <p:cNvSpPr txBox="1"/>
          <p:nvPr/>
        </p:nvSpPr>
        <p:spPr>
          <a:xfrm>
            <a:off x="2782529" y="523220"/>
            <a:ext cx="9173497" cy="1200329"/>
          </a:xfrm>
          <a:prstGeom prst="rect">
            <a:avLst/>
          </a:prstGeom>
          <a:noFill/>
        </p:spPr>
        <p:txBody>
          <a:bodyPr wrap="square">
            <a:spAutoFit/>
          </a:bodyPr>
          <a:lstStyle/>
          <a:p>
            <a:r>
              <a:rPr lang="en-IN" dirty="0"/>
              <a:t>It enables secure access across different cloud providers (e.g., AWS to Azure). This process involves creating replication groups to sync databases, creating shares from the replicated data, and using Listings for easy consumption.</a:t>
            </a:r>
          </a:p>
          <a:p>
            <a:endParaRPr lang="en-IN" dirty="0"/>
          </a:p>
        </p:txBody>
      </p:sp>
      <p:sp>
        <p:nvSpPr>
          <p:cNvPr id="8" name="TextBox 7">
            <a:extLst>
              <a:ext uri="{FF2B5EF4-FFF2-40B4-BE49-F238E27FC236}">
                <a16:creationId xmlns:a16="http://schemas.microsoft.com/office/drawing/2014/main" id="{911DE3A3-A246-1E7F-00F4-5D492C69AB73}"/>
              </a:ext>
            </a:extLst>
          </p:cNvPr>
          <p:cNvSpPr txBox="1"/>
          <p:nvPr/>
        </p:nvSpPr>
        <p:spPr>
          <a:xfrm>
            <a:off x="-19665" y="1628196"/>
            <a:ext cx="12231330" cy="4278094"/>
          </a:xfrm>
          <a:prstGeom prst="rect">
            <a:avLst/>
          </a:prstGeom>
          <a:noFill/>
        </p:spPr>
        <p:txBody>
          <a:bodyPr wrap="square">
            <a:spAutoFit/>
          </a:bodyPr>
          <a:lstStyle/>
          <a:p>
            <a:pPr algn="ctr"/>
            <a:r>
              <a:rPr lang="en-IN" sz="2800" b="1" dirty="0">
                <a:solidFill>
                  <a:srgbClr val="00B0F0"/>
                </a:solidFill>
              </a:rPr>
              <a:t>Key Concepts &amp; Steps</a:t>
            </a:r>
          </a:p>
          <a:p>
            <a:pPr algn="ctr"/>
            <a:endParaRPr lang="en-IN" sz="2800" b="1" dirty="0">
              <a:solidFill>
                <a:srgbClr val="00B0F0"/>
              </a:solidFill>
            </a:endParaRPr>
          </a:p>
          <a:p>
            <a:r>
              <a:rPr lang="en-IN" b="1" dirty="0"/>
              <a:t>Replication Groups: </a:t>
            </a:r>
            <a:r>
              <a:rPr lang="en-IN" dirty="0"/>
              <a:t>You must use replication groups to add databases and shares for replication to target regions. </a:t>
            </a:r>
          </a:p>
          <a:p>
            <a:endParaRPr lang="en-IN" dirty="0"/>
          </a:p>
          <a:p>
            <a:endParaRPr lang="en-IN" dirty="0"/>
          </a:p>
          <a:p>
            <a:r>
              <a:rPr lang="en-IN" b="1" dirty="0"/>
              <a:t>Enable Replication: </a:t>
            </a:r>
            <a:r>
              <a:rPr lang="en-IN" dirty="0"/>
              <a:t>An organization administrator must enable replication for both the source and target accounts. </a:t>
            </a:r>
          </a:p>
          <a:p>
            <a:endParaRPr lang="en-IN" dirty="0"/>
          </a:p>
          <a:p>
            <a:endParaRPr lang="en-IN" dirty="0"/>
          </a:p>
          <a:p>
            <a:r>
              <a:rPr lang="en-IN" b="1" dirty="0"/>
              <a:t>Replicated DB to Share: </a:t>
            </a:r>
            <a:r>
              <a:rPr lang="en-IN" dirty="0"/>
              <a:t>The data must be replicated to the secondary region before it can be shared, as direct sharing is limited to the same region. </a:t>
            </a:r>
          </a:p>
          <a:p>
            <a:endParaRPr lang="en-IN" dirty="0"/>
          </a:p>
          <a:p>
            <a:endParaRPr lang="en-IN" b="1" dirty="0"/>
          </a:p>
          <a:p>
            <a:r>
              <a:rPr lang="en-IN" b="1" dirty="0"/>
              <a:t>Listings: </a:t>
            </a:r>
            <a:r>
              <a:rPr lang="en-IN" dirty="0"/>
              <a:t>The easiest way to share data across regions and cloud providers is using Snowflake Listings, which supports auto-</a:t>
            </a:r>
            <a:r>
              <a:rPr lang="en-IN" dirty="0" err="1"/>
              <a:t>fulfillment</a:t>
            </a:r>
            <a:r>
              <a:rPr lang="en-IN" dirty="0"/>
              <a:t> and cross-region sharing. </a:t>
            </a:r>
          </a:p>
        </p:txBody>
      </p:sp>
    </p:spTree>
    <p:extLst>
      <p:ext uri="{BB962C8B-B14F-4D97-AF65-F5344CB8AC3E}">
        <p14:creationId xmlns:p14="http://schemas.microsoft.com/office/powerpoint/2010/main" val="148722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920E71-E5D5-C762-0E6F-02AE8DDC6E9B}"/>
              </a:ext>
            </a:extLst>
          </p:cNvPr>
          <p:cNvSpPr txBox="1"/>
          <p:nvPr/>
        </p:nvSpPr>
        <p:spPr>
          <a:xfrm>
            <a:off x="3244645" y="0"/>
            <a:ext cx="6096000" cy="461665"/>
          </a:xfrm>
          <a:prstGeom prst="rect">
            <a:avLst/>
          </a:prstGeom>
          <a:noFill/>
        </p:spPr>
        <p:txBody>
          <a:bodyPr wrap="square">
            <a:spAutoFit/>
          </a:bodyPr>
          <a:lstStyle/>
          <a:p>
            <a:r>
              <a:rPr lang="en-US" sz="2400" b="1" dirty="0">
                <a:solidFill>
                  <a:srgbClr val="00B0F0"/>
                </a:solidFill>
              </a:rPr>
              <a:t>Sharing between different Snowflake accounts </a:t>
            </a:r>
            <a:endParaRPr lang="en-IN" sz="2400" b="1" dirty="0">
              <a:solidFill>
                <a:srgbClr val="00B0F0"/>
              </a:solidFill>
            </a:endParaRPr>
          </a:p>
        </p:txBody>
      </p:sp>
      <p:sp>
        <p:nvSpPr>
          <p:cNvPr id="4" name="Rectangle 3">
            <a:extLst>
              <a:ext uri="{FF2B5EF4-FFF2-40B4-BE49-F238E27FC236}">
                <a16:creationId xmlns:a16="http://schemas.microsoft.com/office/drawing/2014/main" id="{07734002-4466-BC7F-91F3-E874B4179C2F}"/>
              </a:ext>
            </a:extLst>
          </p:cNvPr>
          <p:cNvSpPr/>
          <p:nvPr/>
        </p:nvSpPr>
        <p:spPr>
          <a:xfrm>
            <a:off x="0" y="830996"/>
            <a:ext cx="3313471" cy="46166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Snowflake Data Listings</a:t>
            </a:r>
          </a:p>
        </p:txBody>
      </p:sp>
      <p:sp>
        <p:nvSpPr>
          <p:cNvPr id="6" name="TextBox 5">
            <a:extLst>
              <a:ext uri="{FF2B5EF4-FFF2-40B4-BE49-F238E27FC236}">
                <a16:creationId xmlns:a16="http://schemas.microsoft.com/office/drawing/2014/main" id="{EDDB17D3-5D62-8853-5A49-07ECAB18B661}"/>
              </a:ext>
            </a:extLst>
          </p:cNvPr>
          <p:cNvSpPr txBox="1"/>
          <p:nvPr/>
        </p:nvSpPr>
        <p:spPr>
          <a:xfrm>
            <a:off x="3313471" y="461665"/>
            <a:ext cx="8804786" cy="1200329"/>
          </a:xfrm>
          <a:prstGeom prst="rect">
            <a:avLst/>
          </a:prstGeom>
          <a:noFill/>
        </p:spPr>
        <p:txBody>
          <a:bodyPr wrap="square">
            <a:spAutoFit/>
          </a:bodyPr>
          <a:lstStyle/>
          <a:p>
            <a:pPr algn="just"/>
            <a:r>
              <a:rPr lang="en-IN" dirty="0"/>
              <a:t>enables secure, real-time sharing without copying data. Data providers create a listing, which then can be shared across different regions or clouds, while consumers access this via read-only. The process involves sharing metadata via the services layer, where the provider grants access to specific databases/views, and the consumer creates a database from that share. </a:t>
            </a:r>
          </a:p>
        </p:txBody>
      </p:sp>
      <p:sp>
        <p:nvSpPr>
          <p:cNvPr id="8" name="TextBox 7">
            <a:extLst>
              <a:ext uri="{FF2B5EF4-FFF2-40B4-BE49-F238E27FC236}">
                <a16:creationId xmlns:a16="http://schemas.microsoft.com/office/drawing/2014/main" id="{4D84E067-F920-5278-F3C3-C36E944EB545}"/>
              </a:ext>
            </a:extLst>
          </p:cNvPr>
          <p:cNvSpPr txBox="1"/>
          <p:nvPr/>
        </p:nvSpPr>
        <p:spPr>
          <a:xfrm>
            <a:off x="-73743" y="1661992"/>
            <a:ext cx="12192000" cy="4985980"/>
          </a:xfrm>
          <a:prstGeom prst="rect">
            <a:avLst/>
          </a:prstGeom>
          <a:noFill/>
        </p:spPr>
        <p:txBody>
          <a:bodyPr wrap="square">
            <a:spAutoFit/>
          </a:bodyPr>
          <a:lstStyle/>
          <a:p>
            <a:pPr algn="ctr"/>
            <a:r>
              <a:rPr lang="en-IN" sz="2400" b="1" dirty="0">
                <a:solidFill>
                  <a:srgbClr val="00B0F0"/>
                </a:solidFill>
              </a:rPr>
              <a:t>Key Aspects of Cross-Organization Sharing</a:t>
            </a:r>
          </a:p>
          <a:p>
            <a:pPr algn="ctr"/>
            <a:endParaRPr lang="en-IN" sz="2400" b="1" dirty="0">
              <a:solidFill>
                <a:srgbClr val="00B0F0"/>
              </a:solidFill>
            </a:endParaRPr>
          </a:p>
          <a:p>
            <a:r>
              <a:rPr lang="en-IN" b="1" dirty="0"/>
              <a:t>Listings &amp; Direct Share: </a:t>
            </a:r>
            <a:r>
              <a:rPr lang="en-IN" dirty="0"/>
              <a:t>While direct sharing works within the same region, Data Listings are typically used for sharing across different organizations and regions.</a:t>
            </a:r>
          </a:p>
          <a:p>
            <a:endParaRPr lang="en-IN" dirty="0"/>
          </a:p>
          <a:p>
            <a:r>
              <a:rPr lang="en-IN" b="1" dirty="0"/>
              <a:t>No Data Movement: </a:t>
            </a:r>
            <a:r>
              <a:rPr lang="en-IN" dirty="0"/>
              <a:t>Data remains in the provider's account. Consumers query data using their own compute resources, with no data storage costs for the consumer. </a:t>
            </a:r>
          </a:p>
          <a:p>
            <a:endParaRPr lang="en-IN" dirty="0"/>
          </a:p>
          <a:p>
            <a:r>
              <a:rPr lang="en-IN" b="1" dirty="0"/>
              <a:t>Setup Requirements: </a:t>
            </a:r>
            <a:r>
              <a:rPr lang="en-IN" dirty="0"/>
              <a:t>The provider defines a share, grants SELECT privileges on specific objects (tables/views) to that share, and grants USAGE on the database/schema. </a:t>
            </a:r>
          </a:p>
          <a:p>
            <a:endParaRPr lang="en-IN" dirty="0"/>
          </a:p>
          <a:p>
            <a:r>
              <a:rPr lang="en-IN" b="1" dirty="0"/>
              <a:t>Consumer Access: </a:t>
            </a:r>
            <a:r>
              <a:rPr lang="en-IN" dirty="0"/>
              <a:t>The consumer creates a new database from the shared listing to access the data. </a:t>
            </a:r>
          </a:p>
          <a:p>
            <a:endParaRPr lang="en-IN" dirty="0"/>
          </a:p>
          <a:p>
            <a:r>
              <a:rPr lang="en-IN" b="1" dirty="0"/>
              <a:t>Security &amp; Control: </a:t>
            </a:r>
            <a:r>
              <a:rPr lang="en-IN" dirty="0"/>
              <a:t>Data is shared read-only. The provider can revoke access at any time. </a:t>
            </a:r>
          </a:p>
          <a:p>
            <a:endParaRPr lang="en-IN" dirty="0"/>
          </a:p>
          <a:p>
            <a:r>
              <a:rPr lang="en-IN" b="1" dirty="0"/>
              <a:t>Cross-Region/Cloud: </a:t>
            </a:r>
            <a:r>
              <a:rPr lang="en-IN" dirty="0"/>
              <a:t>For cross-region sharing, the provider might need to use replication to move data to the consumer's region, or rely on listing mechanisms that handle cross-cloud functionality.</a:t>
            </a:r>
          </a:p>
        </p:txBody>
      </p:sp>
    </p:spTree>
    <p:extLst>
      <p:ext uri="{BB962C8B-B14F-4D97-AF65-F5344CB8AC3E}">
        <p14:creationId xmlns:p14="http://schemas.microsoft.com/office/powerpoint/2010/main" val="419631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C1C6EF-D0CA-A709-F937-364636E8F4A8}"/>
              </a:ext>
            </a:extLst>
          </p:cNvPr>
          <p:cNvSpPr txBox="1"/>
          <p:nvPr/>
        </p:nvSpPr>
        <p:spPr>
          <a:xfrm>
            <a:off x="3765755" y="0"/>
            <a:ext cx="6096000" cy="461665"/>
          </a:xfrm>
          <a:prstGeom prst="rect">
            <a:avLst/>
          </a:prstGeom>
          <a:noFill/>
        </p:spPr>
        <p:txBody>
          <a:bodyPr wrap="square">
            <a:spAutoFit/>
          </a:bodyPr>
          <a:lstStyle/>
          <a:p>
            <a:r>
              <a:rPr lang="en-US" sz="2400" b="1" dirty="0">
                <a:solidFill>
                  <a:srgbClr val="00B0F0"/>
                </a:solidFill>
              </a:rPr>
              <a:t>Sharing to a non-Snowflake customer </a:t>
            </a:r>
            <a:endParaRPr lang="en-IN" sz="2400" b="1" dirty="0">
              <a:solidFill>
                <a:srgbClr val="00B0F0"/>
              </a:solidFill>
            </a:endParaRPr>
          </a:p>
        </p:txBody>
      </p:sp>
      <p:sp>
        <p:nvSpPr>
          <p:cNvPr id="2" name="Rectangle 1">
            <a:extLst>
              <a:ext uri="{FF2B5EF4-FFF2-40B4-BE49-F238E27FC236}">
                <a16:creationId xmlns:a16="http://schemas.microsoft.com/office/drawing/2014/main" id="{19507328-E22A-67DB-0670-DC187E0E463E}"/>
              </a:ext>
            </a:extLst>
          </p:cNvPr>
          <p:cNvSpPr/>
          <p:nvPr/>
        </p:nvSpPr>
        <p:spPr>
          <a:xfrm>
            <a:off x="0" y="609150"/>
            <a:ext cx="2418735" cy="4822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Reader Accounts</a:t>
            </a:r>
            <a:endParaRPr lang="en-IN" sz="2400" dirty="0"/>
          </a:p>
        </p:txBody>
      </p:sp>
      <p:sp>
        <p:nvSpPr>
          <p:cNvPr id="5" name="TextBox 4">
            <a:extLst>
              <a:ext uri="{FF2B5EF4-FFF2-40B4-BE49-F238E27FC236}">
                <a16:creationId xmlns:a16="http://schemas.microsoft.com/office/drawing/2014/main" id="{DC485934-7B20-2EA3-39F1-6C422CDD8EED}"/>
              </a:ext>
            </a:extLst>
          </p:cNvPr>
          <p:cNvSpPr txBox="1"/>
          <p:nvPr/>
        </p:nvSpPr>
        <p:spPr>
          <a:xfrm>
            <a:off x="2625212" y="482233"/>
            <a:ext cx="9566788" cy="923330"/>
          </a:xfrm>
          <a:prstGeom prst="rect">
            <a:avLst/>
          </a:prstGeom>
          <a:noFill/>
        </p:spPr>
        <p:txBody>
          <a:bodyPr wrap="square">
            <a:spAutoFit/>
          </a:bodyPr>
          <a:lstStyle/>
          <a:p>
            <a:pPr algn="just"/>
            <a:r>
              <a:rPr lang="en-IN" dirty="0"/>
              <a:t>It allows us to create a secure, read-only Snowflake account for non snowflake users. The provider covers the costs, and it enables real-time access to shared data without requiring the recipient to have their own Snowflake contract.</a:t>
            </a:r>
          </a:p>
        </p:txBody>
      </p:sp>
      <p:sp>
        <p:nvSpPr>
          <p:cNvPr id="7" name="TextBox 6">
            <a:extLst>
              <a:ext uri="{FF2B5EF4-FFF2-40B4-BE49-F238E27FC236}">
                <a16:creationId xmlns:a16="http://schemas.microsoft.com/office/drawing/2014/main" id="{6D711DE4-647E-5467-2C8D-52DB5A88DF61}"/>
              </a:ext>
            </a:extLst>
          </p:cNvPr>
          <p:cNvSpPr txBox="1"/>
          <p:nvPr/>
        </p:nvSpPr>
        <p:spPr>
          <a:xfrm>
            <a:off x="3945194" y="1426131"/>
            <a:ext cx="6140244" cy="523220"/>
          </a:xfrm>
          <a:prstGeom prst="rect">
            <a:avLst/>
          </a:prstGeom>
          <a:noFill/>
        </p:spPr>
        <p:txBody>
          <a:bodyPr wrap="square">
            <a:spAutoFit/>
          </a:bodyPr>
          <a:lstStyle/>
          <a:p>
            <a:r>
              <a:rPr lang="en-IN" sz="2800" b="1" dirty="0">
                <a:solidFill>
                  <a:srgbClr val="00B0F0"/>
                </a:solidFill>
              </a:rPr>
              <a:t>Sharing across cloud providers</a:t>
            </a:r>
          </a:p>
        </p:txBody>
      </p:sp>
      <p:sp>
        <p:nvSpPr>
          <p:cNvPr id="9" name="Rectangle 8">
            <a:extLst>
              <a:ext uri="{FF2B5EF4-FFF2-40B4-BE49-F238E27FC236}">
                <a16:creationId xmlns:a16="http://schemas.microsoft.com/office/drawing/2014/main" id="{6DD11B28-A07C-6969-FA1E-76E7E4787773}"/>
              </a:ext>
            </a:extLst>
          </p:cNvPr>
          <p:cNvSpPr/>
          <p:nvPr/>
        </p:nvSpPr>
        <p:spPr>
          <a:xfrm>
            <a:off x="3817376" y="1966319"/>
            <a:ext cx="3313470" cy="5232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DATABASE REPLICATION</a:t>
            </a:r>
            <a:endParaRPr lang="en-IN" sz="2400" b="1" dirty="0"/>
          </a:p>
        </p:txBody>
      </p:sp>
      <p:sp>
        <p:nvSpPr>
          <p:cNvPr id="10" name="Plus Sign 9">
            <a:extLst>
              <a:ext uri="{FF2B5EF4-FFF2-40B4-BE49-F238E27FC236}">
                <a16:creationId xmlns:a16="http://schemas.microsoft.com/office/drawing/2014/main" id="{E82420F5-0C86-3E02-EF0C-42FDC7FE3690}"/>
              </a:ext>
            </a:extLst>
          </p:cNvPr>
          <p:cNvSpPr/>
          <p:nvPr/>
        </p:nvSpPr>
        <p:spPr>
          <a:xfrm>
            <a:off x="3215150" y="1969712"/>
            <a:ext cx="602226" cy="449720"/>
          </a:xfrm>
          <a:prstGeom prst="mathPlu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B504800-9F03-6711-93E5-5A20E4DE16BC}"/>
              </a:ext>
            </a:extLst>
          </p:cNvPr>
          <p:cNvSpPr txBox="1"/>
          <p:nvPr/>
        </p:nvSpPr>
        <p:spPr>
          <a:xfrm>
            <a:off x="0" y="2667366"/>
            <a:ext cx="12192000" cy="923330"/>
          </a:xfrm>
          <a:prstGeom prst="rect">
            <a:avLst/>
          </a:prstGeom>
          <a:noFill/>
        </p:spPr>
        <p:txBody>
          <a:bodyPr wrap="square">
            <a:spAutoFit/>
          </a:bodyPr>
          <a:lstStyle/>
          <a:p>
            <a:pPr algn="just"/>
            <a:r>
              <a:rPr lang="en-IN" dirty="0"/>
              <a:t>It’s achieved by replicating data to the target region and using Snowflake's secure data sharing features  i.e. Listings. This allows for zero-copy sharing or replicated sharing, reducing the need for ETL. The process involves setting up replication, creating shares from the replicated database, and managing access control.</a:t>
            </a:r>
          </a:p>
        </p:txBody>
      </p:sp>
      <p:sp>
        <p:nvSpPr>
          <p:cNvPr id="14" name="TextBox 13">
            <a:extLst>
              <a:ext uri="{FF2B5EF4-FFF2-40B4-BE49-F238E27FC236}">
                <a16:creationId xmlns:a16="http://schemas.microsoft.com/office/drawing/2014/main" id="{C7B63B6B-78CC-F819-0A2A-8843B16B901C}"/>
              </a:ext>
            </a:extLst>
          </p:cNvPr>
          <p:cNvSpPr txBox="1"/>
          <p:nvPr/>
        </p:nvSpPr>
        <p:spPr>
          <a:xfrm>
            <a:off x="0" y="3590696"/>
            <a:ext cx="12192000" cy="3323987"/>
          </a:xfrm>
          <a:prstGeom prst="rect">
            <a:avLst/>
          </a:prstGeom>
          <a:noFill/>
        </p:spPr>
        <p:txBody>
          <a:bodyPr wrap="square">
            <a:spAutoFit/>
          </a:bodyPr>
          <a:lstStyle/>
          <a:p>
            <a:pPr algn="ctr"/>
            <a:r>
              <a:rPr lang="en-IN" sz="2400" b="1" dirty="0">
                <a:solidFill>
                  <a:srgbClr val="00B0F0"/>
                </a:solidFill>
              </a:rPr>
              <a:t>Key Aspects of Cross-Cloud Sharing</a:t>
            </a:r>
          </a:p>
          <a:p>
            <a:pPr algn="ctr"/>
            <a:endParaRPr lang="en-IN" sz="2400" b="1" dirty="0">
              <a:solidFill>
                <a:srgbClr val="00B0F0"/>
              </a:solidFill>
            </a:endParaRPr>
          </a:p>
          <a:p>
            <a:r>
              <a:rPr lang="en-IN" b="1" dirty="0"/>
              <a:t>Replication Needed: </a:t>
            </a:r>
            <a:r>
              <a:rPr lang="en-IN" dirty="0"/>
              <a:t>Data must be replicated to the target cloud/region to allow access, enabling sharing across AWS, Azure, or GCP.</a:t>
            </a:r>
          </a:p>
          <a:p>
            <a:r>
              <a:rPr lang="en-IN" b="1" dirty="0"/>
              <a:t>Secure Data Sharing: </a:t>
            </a:r>
            <a:r>
              <a:rPr lang="en-IN" dirty="0"/>
              <a:t>Replicated databases are used to create shares, allowing consumers to query data without moving it.</a:t>
            </a:r>
          </a:p>
          <a:p>
            <a:endParaRPr lang="en-IN" dirty="0"/>
          </a:p>
          <a:p>
            <a:r>
              <a:rPr lang="en-IN" b="1" dirty="0"/>
              <a:t>Snowflake Listings: </a:t>
            </a:r>
            <a:r>
              <a:rPr lang="en-IN" dirty="0"/>
              <a:t>This approach supports automatic </a:t>
            </a:r>
            <a:r>
              <a:rPr lang="en-IN" dirty="0" err="1"/>
              <a:t>fulfillment</a:t>
            </a:r>
            <a:r>
              <a:rPr lang="en-IN" dirty="0"/>
              <a:t>, enabling data sharing across clouds, with options to monitor usage and charge for data access.</a:t>
            </a:r>
          </a:p>
          <a:p>
            <a:endParaRPr lang="en-IN" dirty="0"/>
          </a:p>
          <a:p>
            <a:r>
              <a:rPr lang="en-IN" b="1" dirty="0"/>
              <a:t>Direct Share: </a:t>
            </a:r>
            <a:r>
              <a:rPr lang="en-IN" dirty="0"/>
              <a:t>While mainly for same-region sharing, it can be combined with replication for cross-cloud scenarios.</a:t>
            </a:r>
          </a:p>
          <a:p>
            <a:r>
              <a:rPr lang="en-IN" b="1" dirty="0"/>
              <a:t>Governance: </a:t>
            </a:r>
            <a:r>
              <a:rPr lang="en-IN" dirty="0"/>
              <a:t>Fine-grained access control and security are maintained throughout the process.</a:t>
            </a:r>
          </a:p>
        </p:txBody>
      </p:sp>
      <p:sp>
        <p:nvSpPr>
          <p:cNvPr id="15" name="Rectangle 14">
            <a:extLst>
              <a:ext uri="{FF2B5EF4-FFF2-40B4-BE49-F238E27FC236}">
                <a16:creationId xmlns:a16="http://schemas.microsoft.com/office/drawing/2014/main" id="{52451B13-149B-411C-1EE4-58C951C5F945}"/>
              </a:ext>
            </a:extLst>
          </p:cNvPr>
          <p:cNvSpPr/>
          <p:nvPr/>
        </p:nvSpPr>
        <p:spPr>
          <a:xfrm>
            <a:off x="0" y="2010906"/>
            <a:ext cx="3313471" cy="46166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Snowflake Data Listings</a:t>
            </a:r>
          </a:p>
        </p:txBody>
      </p:sp>
    </p:spTree>
    <p:extLst>
      <p:ext uri="{BB962C8B-B14F-4D97-AF65-F5344CB8AC3E}">
        <p14:creationId xmlns:p14="http://schemas.microsoft.com/office/powerpoint/2010/main" val="66862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7" grpId="0"/>
      <p:bldP spid="9" grpId="0" animBg="1"/>
      <p:bldP spid="10" grpId="0" animBg="1"/>
      <p:bldP spid="12" grpId="0"/>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9F77F1-9AC2-9DB1-83A9-E18C9EFF9BB4}"/>
              </a:ext>
            </a:extLst>
          </p:cNvPr>
          <p:cNvSpPr txBox="1"/>
          <p:nvPr/>
        </p:nvSpPr>
        <p:spPr>
          <a:xfrm>
            <a:off x="4916129" y="0"/>
            <a:ext cx="6096000" cy="523220"/>
          </a:xfrm>
          <a:prstGeom prst="rect">
            <a:avLst/>
          </a:prstGeom>
          <a:noFill/>
        </p:spPr>
        <p:txBody>
          <a:bodyPr wrap="square">
            <a:spAutoFit/>
          </a:bodyPr>
          <a:lstStyle/>
          <a:p>
            <a:r>
              <a:rPr lang="en-IN" sz="2800" b="1" dirty="0">
                <a:solidFill>
                  <a:srgbClr val="00B0F0"/>
                </a:solidFill>
              </a:rPr>
              <a:t>Data Exchange </a:t>
            </a:r>
          </a:p>
        </p:txBody>
      </p:sp>
      <p:sp>
        <p:nvSpPr>
          <p:cNvPr id="5" name="TextBox 4">
            <a:extLst>
              <a:ext uri="{FF2B5EF4-FFF2-40B4-BE49-F238E27FC236}">
                <a16:creationId xmlns:a16="http://schemas.microsoft.com/office/drawing/2014/main" id="{498A786E-D393-C489-63EC-DA1F99FA969E}"/>
              </a:ext>
            </a:extLst>
          </p:cNvPr>
          <p:cNvSpPr txBox="1"/>
          <p:nvPr/>
        </p:nvSpPr>
        <p:spPr>
          <a:xfrm>
            <a:off x="0" y="523220"/>
            <a:ext cx="12192000" cy="1985159"/>
          </a:xfrm>
          <a:prstGeom prst="rect">
            <a:avLst/>
          </a:prstGeom>
          <a:noFill/>
        </p:spPr>
        <p:txBody>
          <a:bodyPr wrap="square">
            <a:spAutoFit/>
          </a:bodyPr>
          <a:lstStyle/>
          <a:p>
            <a:pPr algn="just">
              <a:spcAft>
                <a:spcPts val="1800"/>
              </a:spcAft>
              <a:buNone/>
            </a:pPr>
            <a:r>
              <a:rPr lang="en-US" b="0" i="0" dirty="0">
                <a:effectLst/>
                <a:latin typeface="Inter"/>
              </a:rPr>
              <a:t>Data Exchange provides a data hub for securely collaborating around data with a selected group of members that you invite. It lets you, as a provider, publish data which can then be discovered by the consumers participating in your exchange.</a:t>
            </a:r>
          </a:p>
          <a:p>
            <a:pPr algn="just">
              <a:spcAft>
                <a:spcPts val="1800"/>
              </a:spcAft>
              <a:buNone/>
            </a:pPr>
            <a:r>
              <a:rPr lang="en-US" b="0" i="0" dirty="0">
                <a:effectLst/>
                <a:latin typeface="Inter"/>
              </a:rPr>
              <a:t>With a Data Exchange, you can easily provide data to a specific group of consistent business partners taking part in the Data Exchange, such as internal departments in your company or vendors, suppliers, and partners external to your company. If you want to share data with a variety of consumers inside and outside your organization, you can also use listings offered to specific consumers or publicly on the Snowflake Marketplace.</a:t>
            </a:r>
          </a:p>
        </p:txBody>
      </p:sp>
      <p:pic>
        <p:nvPicPr>
          <p:cNvPr id="1026" name="Picture 2" descr="What Is Data Exchange? How to Buy and Sell Third-party Data">
            <a:extLst>
              <a:ext uri="{FF2B5EF4-FFF2-40B4-BE49-F238E27FC236}">
                <a16:creationId xmlns:a16="http://schemas.microsoft.com/office/drawing/2014/main" id="{1489C2F5-EA11-013A-F276-FFD6417C6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3062" y="3048000"/>
            <a:ext cx="657225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0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C3162E-D2BB-749E-F7E6-16D96F3729A5}"/>
              </a:ext>
            </a:extLst>
          </p:cNvPr>
          <p:cNvSpPr txBox="1"/>
          <p:nvPr/>
        </p:nvSpPr>
        <p:spPr>
          <a:xfrm>
            <a:off x="1961535" y="0"/>
            <a:ext cx="8268929" cy="523220"/>
          </a:xfrm>
          <a:prstGeom prst="rect">
            <a:avLst/>
          </a:prstGeom>
          <a:noFill/>
        </p:spPr>
        <p:txBody>
          <a:bodyPr wrap="square">
            <a:spAutoFit/>
          </a:bodyPr>
          <a:lstStyle/>
          <a:p>
            <a:r>
              <a:rPr lang="en-US" sz="2800" b="1" dirty="0">
                <a:solidFill>
                  <a:srgbClr val="00B0F0"/>
                </a:solidFill>
              </a:rPr>
              <a:t>Configure shares, account parameters, and privileges </a:t>
            </a:r>
            <a:endParaRPr lang="en-IN" sz="2800" b="1" dirty="0">
              <a:solidFill>
                <a:srgbClr val="00B0F0"/>
              </a:solidFill>
            </a:endParaRPr>
          </a:p>
        </p:txBody>
      </p:sp>
      <p:sp>
        <p:nvSpPr>
          <p:cNvPr id="5" name="TextBox 4">
            <a:extLst>
              <a:ext uri="{FF2B5EF4-FFF2-40B4-BE49-F238E27FC236}">
                <a16:creationId xmlns:a16="http://schemas.microsoft.com/office/drawing/2014/main" id="{35B929C2-72C0-871B-6BAC-1FCB2BF555E1}"/>
              </a:ext>
            </a:extLst>
          </p:cNvPr>
          <p:cNvSpPr txBox="1"/>
          <p:nvPr/>
        </p:nvSpPr>
        <p:spPr>
          <a:xfrm>
            <a:off x="0" y="1134888"/>
            <a:ext cx="12192000" cy="4647426"/>
          </a:xfrm>
          <a:prstGeom prst="rect">
            <a:avLst/>
          </a:prstGeom>
          <a:noFill/>
        </p:spPr>
        <p:txBody>
          <a:bodyPr wrap="square">
            <a:spAutoFit/>
          </a:bodyPr>
          <a:lstStyle/>
          <a:p>
            <a:pPr algn="ctr">
              <a:buNone/>
            </a:pPr>
            <a:r>
              <a:rPr lang="en-US" sz="2000" b="1" dirty="0">
                <a:solidFill>
                  <a:srgbClr val="00B0F0"/>
                </a:solidFill>
              </a:rPr>
              <a:t>The Privilege Chain</a:t>
            </a:r>
          </a:p>
          <a:p>
            <a:pPr algn="ctr">
              <a:buNone/>
            </a:pPr>
            <a:endParaRPr lang="en-US" sz="2000" b="1" dirty="0">
              <a:solidFill>
                <a:srgbClr val="00B0F0"/>
              </a:solidFill>
            </a:endParaRPr>
          </a:p>
          <a:p>
            <a:pPr>
              <a:buNone/>
            </a:pPr>
            <a:r>
              <a:rPr lang="en-US" dirty="0"/>
              <a:t>To share an object, the provider role (usually </a:t>
            </a:r>
            <a:r>
              <a:rPr lang="en-US" dirty="0">
                <a:latin typeface="Courier New" panose="02070309020205020404" pitchFamily="49" charset="0"/>
              </a:rPr>
              <a:t>ACCOUNTADMIN</a:t>
            </a:r>
            <a:r>
              <a:rPr lang="en-US" dirty="0"/>
              <a:t> or a role with </a:t>
            </a:r>
            <a:r>
              <a:rPr lang="en-US" dirty="0">
                <a:latin typeface="Courier New" panose="02070309020205020404" pitchFamily="49" charset="0"/>
              </a:rPr>
              <a:t>CREATE SHARE</a:t>
            </a:r>
            <a:r>
              <a:rPr lang="en-US" dirty="0"/>
              <a:t>) must follow this sequence:</a:t>
            </a:r>
          </a:p>
          <a:p>
            <a:pPr>
              <a:buNone/>
            </a:pPr>
            <a:endParaRPr lang="en-US" dirty="0"/>
          </a:p>
          <a:p>
            <a:pPr>
              <a:buFont typeface="+mj-lt"/>
              <a:buAutoNum type="arabicPeriod"/>
            </a:pPr>
            <a:r>
              <a:rPr lang="en-US" dirty="0">
                <a:latin typeface="Courier New" panose="02070309020205020404" pitchFamily="49" charset="0"/>
              </a:rPr>
              <a:t>GRANT USAGE ON DATABASE &lt;</a:t>
            </a:r>
            <a:r>
              <a:rPr lang="en-US" dirty="0" err="1">
                <a:latin typeface="Courier New" panose="02070309020205020404" pitchFamily="49" charset="0"/>
              </a:rPr>
              <a:t>db</a:t>
            </a:r>
            <a:r>
              <a:rPr lang="en-US" dirty="0">
                <a:latin typeface="Courier New" panose="02070309020205020404" pitchFamily="49" charset="0"/>
              </a:rPr>
              <a:t>&gt; TO SHARE &lt;</a:t>
            </a:r>
            <a:r>
              <a:rPr lang="en-US" dirty="0" err="1">
                <a:latin typeface="Courier New" panose="02070309020205020404" pitchFamily="49" charset="0"/>
              </a:rPr>
              <a:t>share_name</a:t>
            </a:r>
            <a:r>
              <a:rPr lang="en-US" dirty="0">
                <a:latin typeface="Courier New" panose="02070309020205020404" pitchFamily="49" charset="0"/>
              </a:rPr>
              <a:t>&gt;;</a:t>
            </a:r>
            <a:endParaRPr lang="en-US" dirty="0"/>
          </a:p>
          <a:p>
            <a:pPr>
              <a:buFont typeface="+mj-lt"/>
              <a:buAutoNum type="arabicPeriod"/>
            </a:pPr>
            <a:r>
              <a:rPr lang="en-US" dirty="0">
                <a:latin typeface="Courier New" panose="02070309020205020404" pitchFamily="49" charset="0"/>
              </a:rPr>
              <a:t>GRANT USAGE ON SCHEMA &lt;</a:t>
            </a:r>
            <a:r>
              <a:rPr lang="en-US" dirty="0" err="1">
                <a:latin typeface="Courier New" panose="02070309020205020404" pitchFamily="49" charset="0"/>
              </a:rPr>
              <a:t>db</a:t>
            </a:r>
            <a:r>
              <a:rPr lang="en-US" dirty="0">
                <a:latin typeface="Courier New" panose="02070309020205020404" pitchFamily="49" charset="0"/>
              </a:rPr>
              <a:t>&gt;.&lt;schema&gt; TO SHARE &lt;</a:t>
            </a:r>
            <a:r>
              <a:rPr lang="en-US" dirty="0" err="1">
                <a:latin typeface="Courier New" panose="02070309020205020404" pitchFamily="49" charset="0"/>
              </a:rPr>
              <a:t>share_name</a:t>
            </a:r>
            <a:r>
              <a:rPr lang="en-US" dirty="0">
                <a:latin typeface="Courier New" panose="02070309020205020404" pitchFamily="49" charset="0"/>
              </a:rPr>
              <a:t>&gt;;</a:t>
            </a:r>
            <a:endParaRPr lang="en-US" dirty="0"/>
          </a:p>
          <a:p>
            <a:pPr>
              <a:buFont typeface="+mj-lt"/>
              <a:buAutoNum type="arabicPeriod"/>
            </a:pPr>
            <a:r>
              <a:rPr lang="en-US" dirty="0">
                <a:latin typeface="Courier New" panose="02070309020205020404" pitchFamily="49" charset="0"/>
              </a:rPr>
              <a:t>GRANT SELECT ON &lt;table/view&gt; TO SHARE &lt;</a:t>
            </a:r>
            <a:r>
              <a:rPr lang="en-US" dirty="0" err="1">
                <a:latin typeface="Courier New" panose="02070309020205020404" pitchFamily="49" charset="0"/>
              </a:rPr>
              <a:t>share_name</a:t>
            </a:r>
            <a:r>
              <a:rPr lang="en-US" dirty="0">
                <a:latin typeface="Courier New" panose="02070309020205020404" pitchFamily="49" charset="0"/>
              </a:rPr>
              <a:t>&gt;;</a:t>
            </a:r>
          </a:p>
          <a:p>
            <a:pPr>
              <a:buFont typeface="+mj-lt"/>
              <a:buAutoNum type="arabicPeriod"/>
            </a:pPr>
            <a:endParaRPr lang="en-US" dirty="0">
              <a:latin typeface="Courier New" panose="02070309020205020404" pitchFamily="49" charset="0"/>
            </a:endParaRPr>
          </a:p>
          <a:p>
            <a:pPr>
              <a:buFont typeface="+mj-lt"/>
              <a:buAutoNum type="arabicPeriod"/>
            </a:pPr>
            <a:endParaRPr lang="en-US" dirty="0"/>
          </a:p>
          <a:p>
            <a:pPr algn="ctr">
              <a:buNone/>
            </a:pPr>
            <a:r>
              <a:rPr lang="en-US" sz="2000" b="1" dirty="0">
                <a:solidFill>
                  <a:srgbClr val="00B0F0"/>
                </a:solidFill>
              </a:rPr>
              <a:t>Critical Account Parameters</a:t>
            </a:r>
          </a:p>
          <a:p>
            <a:pPr algn="ctr">
              <a:buNone/>
            </a:pPr>
            <a:endParaRPr lang="en-US" sz="2000" b="1" dirty="0">
              <a:solidFill>
                <a:srgbClr val="00B0F0"/>
              </a:solidFill>
            </a:endParaRPr>
          </a:p>
          <a:p>
            <a:pPr>
              <a:buFont typeface="Arial" panose="020B0604020202020204" pitchFamily="34" charset="0"/>
              <a:buChar char="•"/>
            </a:pPr>
            <a:r>
              <a:rPr lang="en-US" b="1" dirty="0">
                <a:latin typeface="Courier New" panose="02070309020205020404" pitchFamily="49" charset="0"/>
              </a:rPr>
              <a:t>DATA_RETENTION_TIME_IN_DAYS</a:t>
            </a:r>
            <a:r>
              <a:rPr lang="en-US" dirty="0"/>
              <a:t>: If you drop a shared table, it disappears for the consumer instantly. Ensure retention is set high enough on source tables to prevent accidental outages.</a:t>
            </a:r>
          </a:p>
          <a:p>
            <a:endParaRPr lang="en-US" dirty="0"/>
          </a:p>
          <a:p>
            <a:endParaRPr lang="en-US" dirty="0"/>
          </a:p>
          <a:p>
            <a:pPr>
              <a:buFont typeface="Arial" panose="020B0604020202020204" pitchFamily="34" charset="0"/>
              <a:buChar char="•"/>
            </a:pPr>
            <a:r>
              <a:rPr lang="en-US" b="1" dirty="0">
                <a:latin typeface="Courier New" panose="02070309020205020404" pitchFamily="49" charset="0"/>
              </a:rPr>
              <a:t>SHARE_RESTRICTIONS</a:t>
            </a:r>
            <a:r>
              <a:rPr lang="en-US" dirty="0"/>
              <a:t>: You can restrict which regions or accounts can view your shares.</a:t>
            </a:r>
          </a:p>
        </p:txBody>
      </p:sp>
    </p:spTree>
    <p:extLst>
      <p:ext uri="{BB962C8B-B14F-4D97-AF65-F5344CB8AC3E}">
        <p14:creationId xmlns:p14="http://schemas.microsoft.com/office/powerpoint/2010/main" val="84523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FA4A38-E646-0B6B-4954-C1BCDDFBFD7F}"/>
              </a:ext>
            </a:extLst>
          </p:cNvPr>
          <p:cNvSpPr txBox="1"/>
          <p:nvPr/>
        </p:nvSpPr>
        <p:spPr>
          <a:xfrm>
            <a:off x="3696929" y="0"/>
            <a:ext cx="6096000" cy="523220"/>
          </a:xfrm>
          <a:prstGeom prst="rect">
            <a:avLst/>
          </a:prstGeom>
          <a:noFill/>
        </p:spPr>
        <p:txBody>
          <a:bodyPr wrap="square">
            <a:spAutoFit/>
          </a:bodyPr>
          <a:lstStyle/>
          <a:p>
            <a:r>
              <a:rPr lang="en-US" sz="2800" b="1" dirty="0">
                <a:solidFill>
                  <a:srgbClr val="00B0F0"/>
                </a:solidFill>
              </a:rPr>
              <a:t>Security patterns for data sharing</a:t>
            </a:r>
            <a:endParaRPr lang="en-IN" sz="2800" b="1" dirty="0">
              <a:solidFill>
                <a:srgbClr val="00B0F0"/>
              </a:solidFill>
            </a:endParaRPr>
          </a:p>
        </p:txBody>
      </p:sp>
      <p:sp>
        <p:nvSpPr>
          <p:cNvPr id="13" name="TextBox 12">
            <a:extLst>
              <a:ext uri="{FF2B5EF4-FFF2-40B4-BE49-F238E27FC236}">
                <a16:creationId xmlns:a16="http://schemas.microsoft.com/office/drawing/2014/main" id="{9A81BC0B-6713-5AF7-1C08-ADC583C0D407}"/>
              </a:ext>
            </a:extLst>
          </p:cNvPr>
          <p:cNvSpPr txBox="1"/>
          <p:nvPr/>
        </p:nvSpPr>
        <p:spPr>
          <a:xfrm>
            <a:off x="0" y="719731"/>
            <a:ext cx="12192000" cy="2031325"/>
          </a:xfrm>
          <a:prstGeom prst="rect">
            <a:avLst/>
          </a:prstGeom>
          <a:noFill/>
        </p:spPr>
        <p:txBody>
          <a:bodyPr wrap="square">
            <a:spAutoFit/>
          </a:bodyPr>
          <a:lstStyle/>
          <a:p>
            <a:pPr marL="342900" indent="-342900">
              <a:buAutoNum type="alphaUcPeriod"/>
            </a:pPr>
            <a:r>
              <a:rPr lang="en-US" b="1" dirty="0"/>
              <a:t>Secure Views (Non-negotiable)</a:t>
            </a:r>
          </a:p>
          <a:p>
            <a:pPr marL="342900" indent="-342900">
              <a:buAutoNum type="alphaUcPeriod"/>
            </a:pPr>
            <a:endParaRPr lang="en-US" b="1" dirty="0"/>
          </a:p>
          <a:p>
            <a:pPr>
              <a:buNone/>
            </a:pPr>
            <a:r>
              <a:rPr lang="en-US" dirty="0"/>
              <a:t>Standard views allow a user to run </a:t>
            </a:r>
            <a:r>
              <a:rPr lang="en-US" dirty="0">
                <a:latin typeface="Courier New" panose="02070309020205020404" pitchFamily="49" charset="0"/>
              </a:rPr>
              <a:t>GET_DDL</a:t>
            </a:r>
            <a:r>
              <a:rPr lang="en-US" dirty="0"/>
              <a:t> or use "under-the-hood" optimizations to guess data in rows they shouldn't see.</a:t>
            </a:r>
          </a:p>
          <a:p>
            <a:pPr>
              <a:buNone/>
            </a:pPr>
            <a:endParaRPr lang="en-US" dirty="0"/>
          </a:p>
          <a:p>
            <a:pPr>
              <a:buNone/>
            </a:pPr>
            <a:endParaRPr lang="en-US" dirty="0"/>
          </a:p>
          <a:p>
            <a:pPr>
              <a:buFont typeface="Arial" panose="020B0604020202020204" pitchFamily="34" charset="0"/>
              <a:buChar char="•"/>
            </a:pPr>
            <a:r>
              <a:rPr lang="en-US" b="1" dirty="0"/>
              <a:t>Pattern:</a:t>
            </a:r>
            <a:r>
              <a:rPr lang="en-US" dirty="0"/>
              <a:t> Always use </a:t>
            </a:r>
            <a:r>
              <a:rPr lang="en-US" dirty="0">
                <a:latin typeface="Courier New" panose="02070309020205020404" pitchFamily="49" charset="0"/>
              </a:rPr>
              <a:t>CREATE SECURE VIEW</a:t>
            </a:r>
            <a:r>
              <a:rPr lang="en-US" dirty="0"/>
              <a:t> for sharing. It prevents the consumer from seeing the underlying logic and stops certain query optimizations that could leak data.</a:t>
            </a:r>
          </a:p>
        </p:txBody>
      </p:sp>
      <p:sp>
        <p:nvSpPr>
          <p:cNvPr id="15" name="TextBox 14">
            <a:extLst>
              <a:ext uri="{FF2B5EF4-FFF2-40B4-BE49-F238E27FC236}">
                <a16:creationId xmlns:a16="http://schemas.microsoft.com/office/drawing/2014/main" id="{C638D01E-AF0C-15B5-C451-9B00CBC026BE}"/>
              </a:ext>
            </a:extLst>
          </p:cNvPr>
          <p:cNvSpPr txBox="1"/>
          <p:nvPr/>
        </p:nvSpPr>
        <p:spPr>
          <a:xfrm>
            <a:off x="0" y="2935380"/>
            <a:ext cx="12192000" cy="3693319"/>
          </a:xfrm>
          <a:prstGeom prst="rect">
            <a:avLst/>
          </a:prstGeom>
          <a:noFill/>
        </p:spPr>
        <p:txBody>
          <a:bodyPr wrap="square">
            <a:spAutoFit/>
          </a:bodyPr>
          <a:lstStyle/>
          <a:p>
            <a:pPr>
              <a:buNone/>
            </a:pPr>
            <a:r>
              <a:rPr lang="en-US" b="1" dirty="0"/>
              <a:t>B. Row-Level Security (Multi-tenant Pattern)</a:t>
            </a:r>
          </a:p>
          <a:p>
            <a:pPr>
              <a:buNone/>
            </a:pPr>
            <a:endParaRPr lang="en-US" b="1" dirty="0"/>
          </a:p>
          <a:p>
            <a:pPr>
              <a:buNone/>
            </a:pPr>
            <a:r>
              <a:rPr lang="en-US" dirty="0"/>
              <a:t>If you have one massive </a:t>
            </a:r>
            <a:r>
              <a:rPr lang="en-US" dirty="0">
                <a:latin typeface="Courier New" panose="02070309020205020404" pitchFamily="49" charset="0"/>
              </a:rPr>
              <a:t>SALES</a:t>
            </a:r>
            <a:r>
              <a:rPr lang="en-US" dirty="0"/>
              <a:t> table but want 50 different consumers to only see </a:t>
            </a:r>
            <a:r>
              <a:rPr lang="en-US" i="1" dirty="0"/>
              <a:t>their</a:t>
            </a:r>
            <a:r>
              <a:rPr lang="en-US" dirty="0"/>
              <a:t> data, use a </a:t>
            </a:r>
            <a:r>
              <a:rPr lang="en-US" b="1" dirty="0"/>
              <a:t>Mapping Table</a:t>
            </a:r>
            <a:r>
              <a:rPr lang="en-US" dirty="0"/>
              <a:t>.</a:t>
            </a:r>
          </a:p>
          <a:p>
            <a:pPr>
              <a:buNone/>
            </a:pPr>
            <a:endParaRPr lang="en-US" dirty="0"/>
          </a:p>
          <a:p>
            <a:pPr>
              <a:buNone/>
            </a:pPr>
            <a:r>
              <a:rPr lang="en-US" dirty="0"/>
              <a:t>For Eg:-</a:t>
            </a:r>
          </a:p>
          <a:p>
            <a:pPr>
              <a:buNone/>
            </a:pPr>
            <a:endParaRPr lang="en-US" dirty="0"/>
          </a:p>
          <a:p>
            <a:pPr>
              <a:buNone/>
            </a:pPr>
            <a:r>
              <a:rPr lang="en-US" dirty="0"/>
              <a:t>CREATE SECURE VIEW </a:t>
            </a:r>
            <a:r>
              <a:rPr lang="en-US" dirty="0" err="1"/>
              <a:t>shared_sales_data</a:t>
            </a:r>
            <a:r>
              <a:rPr lang="en-US" dirty="0"/>
              <a:t> AS</a:t>
            </a:r>
          </a:p>
          <a:p>
            <a:pPr>
              <a:buNone/>
            </a:pPr>
            <a:r>
              <a:rPr lang="en-US" dirty="0"/>
              <a:t>SELECT s.*</a:t>
            </a:r>
          </a:p>
          <a:p>
            <a:pPr>
              <a:buNone/>
            </a:pPr>
            <a:r>
              <a:rPr lang="en-US" dirty="0"/>
              <a:t>FROM </a:t>
            </a:r>
            <a:r>
              <a:rPr lang="en-US" dirty="0" err="1"/>
              <a:t>sales_table</a:t>
            </a:r>
            <a:r>
              <a:rPr lang="en-US" dirty="0"/>
              <a:t> s</a:t>
            </a:r>
          </a:p>
          <a:p>
            <a:pPr>
              <a:buNone/>
            </a:pPr>
            <a:r>
              <a:rPr lang="en-US" dirty="0"/>
              <a:t>JOIN </a:t>
            </a:r>
            <a:r>
              <a:rPr lang="en-US" dirty="0" err="1"/>
              <a:t>account_mapping_table</a:t>
            </a:r>
            <a:r>
              <a:rPr lang="en-US" dirty="0"/>
              <a:t> m ON </a:t>
            </a:r>
            <a:r>
              <a:rPr lang="en-US" dirty="0" err="1"/>
              <a:t>s.account_id</a:t>
            </a:r>
            <a:r>
              <a:rPr lang="en-US" dirty="0"/>
              <a:t> = </a:t>
            </a:r>
            <a:r>
              <a:rPr lang="en-US" dirty="0" err="1"/>
              <a:t>m.account_id</a:t>
            </a:r>
            <a:endParaRPr lang="en-US" dirty="0"/>
          </a:p>
          <a:p>
            <a:pPr>
              <a:buNone/>
            </a:pPr>
            <a:r>
              <a:rPr lang="en-US" dirty="0"/>
              <a:t>WHERE </a:t>
            </a:r>
            <a:r>
              <a:rPr lang="en-US" dirty="0" err="1"/>
              <a:t>m.snowflake_account_name</a:t>
            </a:r>
            <a:r>
              <a:rPr lang="en-US" dirty="0"/>
              <a:t> = CURRENT_ACCOUNT();</a:t>
            </a:r>
          </a:p>
          <a:p>
            <a:pPr>
              <a:buNone/>
            </a:pPr>
            <a:endParaRPr lang="en-US" dirty="0"/>
          </a:p>
          <a:p>
            <a:pPr>
              <a:buNone/>
            </a:pPr>
            <a:endParaRPr lang="en-US" dirty="0"/>
          </a:p>
        </p:txBody>
      </p:sp>
    </p:spTree>
    <p:extLst>
      <p:ext uri="{BB962C8B-B14F-4D97-AF65-F5344CB8AC3E}">
        <p14:creationId xmlns:p14="http://schemas.microsoft.com/office/powerpoint/2010/main" val="196990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3CFC10-22C5-E284-68BC-4544E3793A9E}"/>
              </a:ext>
            </a:extLst>
          </p:cNvPr>
          <p:cNvSpPr txBox="1"/>
          <p:nvPr/>
        </p:nvSpPr>
        <p:spPr>
          <a:xfrm>
            <a:off x="668593" y="186813"/>
            <a:ext cx="12624619" cy="461665"/>
          </a:xfrm>
          <a:prstGeom prst="rect">
            <a:avLst/>
          </a:prstGeom>
          <a:noFill/>
        </p:spPr>
        <p:txBody>
          <a:bodyPr wrap="square">
            <a:spAutoFit/>
          </a:bodyPr>
          <a:lstStyle/>
          <a:p>
            <a:r>
              <a:rPr lang="en-US" sz="2400" b="1" dirty="0">
                <a:solidFill>
                  <a:srgbClr val="00B0F0"/>
                </a:solidFill>
              </a:rPr>
              <a:t>Outline the purpose, benefits, and capabilities of the multiple data sharing methods </a:t>
            </a:r>
            <a:endParaRPr lang="en-IN" sz="2400" b="1" dirty="0">
              <a:solidFill>
                <a:srgbClr val="00B0F0"/>
              </a:solidFill>
            </a:endParaRPr>
          </a:p>
        </p:txBody>
      </p:sp>
      <p:graphicFrame>
        <p:nvGraphicFramePr>
          <p:cNvPr id="4" name="Table 3">
            <a:extLst>
              <a:ext uri="{FF2B5EF4-FFF2-40B4-BE49-F238E27FC236}">
                <a16:creationId xmlns:a16="http://schemas.microsoft.com/office/drawing/2014/main" id="{5F203304-D9B5-40C0-6574-68EA09DCBC36}"/>
              </a:ext>
            </a:extLst>
          </p:cNvPr>
          <p:cNvGraphicFramePr>
            <a:graphicFrameLocks noGrp="1"/>
          </p:cNvGraphicFramePr>
          <p:nvPr/>
        </p:nvGraphicFramePr>
        <p:xfrm>
          <a:off x="34413" y="1213848"/>
          <a:ext cx="12123174" cy="3779520"/>
        </p:xfrm>
        <a:graphic>
          <a:graphicData uri="http://schemas.openxmlformats.org/drawingml/2006/table">
            <a:tbl>
              <a:tblPr/>
              <a:tblGrid>
                <a:gridCol w="2153265">
                  <a:extLst>
                    <a:ext uri="{9D8B030D-6E8A-4147-A177-3AD203B41FA5}">
                      <a16:colId xmlns:a16="http://schemas.microsoft.com/office/drawing/2014/main" val="294674988"/>
                    </a:ext>
                  </a:extLst>
                </a:gridCol>
                <a:gridCol w="5171767">
                  <a:extLst>
                    <a:ext uri="{9D8B030D-6E8A-4147-A177-3AD203B41FA5}">
                      <a16:colId xmlns:a16="http://schemas.microsoft.com/office/drawing/2014/main" val="3456266996"/>
                    </a:ext>
                  </a:extLst>
                </a:gridCol>
                <a:gridCol w="4798142">
                  <a:extLst>
                    <a:ext uri="{9D8B030D-6E8A-4147-A177-3AD203B41FA5}">
                      <a16:colId xmlns:a16="http://schemas.microsoft.com/office/drawing/2014/main" val="1691075210"/>
                    </a:ext>
                  </a:extLst>
                </a:gridCol>
              </a:tblGrid>
              <a:tr h="0">
                <a:tc>
                  <a:txBody>
                    <a:bodyPr/>
                    <a:lstStyle/>
                    <a:p>
                      <a:pPr rtl="0">
                        <a:buNone/>
                      </a:pPr>
                      <a:r>
                        <a:rPr lang="en-IN" sz="2400" b="1" dirty="0">
                          <a:solidFill>
                            <a:srgbClr val="00B0F0"/>
                          </a:solidFill>
                          <a:effectLst/>
                          <a:latin typeface="Google Sans Text"/>
                        </a:rPr>
                        <a:t>Method</a:t>
                      </a:r>
                      <a:endParaRPr lang="en-IN" sz="2400" dirty="0">
                        <a:solidFill>
                          <a:srgbClr val="00B0F0"/>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a:solidFill>
                            <a:srgbClr val="00B0F0"/>
                          </a:solidFill>
                          <a:effectLst/>
                          <a:latin typeface="Google Sans Text"/>
                        </a:rPr>
                        <a:t>Purpose</a:t>
                      </a:r>
                      <a:endParaRPr lang="en-IN" sz="2400">
                        <a:solidFill>
                          <a:srgbClr val="00B0F0"/>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400" b="1" dirty="0">
                          <a:solidFill>
                            <a:srgbClr val="00B0F0"/>
                          </a:solidFill>
                          <a:effectLst/>
                          <a:latin typeface="Google Sans Text"/>
                        </a:rPr>
                        <a:t>Key Capability</a:t>
                      </a:r>
                      <a:endParaRPr lang="en-IN" sz="2400" dirty="0">
                        <a:solidFill>
                          <a:srgbClr val="00B0F0"/>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3785776"/>
                  </a:ext>
                </a:extLst>
              </a:tr>
              <a:tr h="0">
                <a:tc>
                  <a:txBody>
                    <a:bodyPr/>
                    <a:lstStyle/>
                    <a:p>
                      <a:pPr rtl="0">
                        <a:buNone/>
                      </a:pPr>
                      <a:r>
                        <a:rPr lang="en-IN" b="1">
                          <a:solidFill>
                            <a:srgbClr val="1F1F1F"/>
                          </a:solidFill>
                          <a:effectLst/>
                          <a:latin typeface="Google Sans Text"/>
                        </a:rPr>
                        <a:t>Direct Sharing</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1-to-1 or 1-to-many sharing within the same region.</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Instant access to provider's metadata; zero storage cost for consumer.</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99361043"/>
                  </a:ext>
                </a:extLst>
              </a:tr>
              <a:tr h="0">
                <a:tc>
                  <a:txBody>
                    <a:bodyPr/>
                    <a:lstStyle/>
                    <a:p>
                      <a:pPr rtl="0">
                        <a:buNone/>
                      </a:pPr>
                      <a:r>
                        <a:rPr lang="en-IN" b="1">
                          <a:solidFill>
                            <a:srgbClr val="1F1F1F"/>
                          </a:solidFill>
                          <a:effectLst/>
                          <a:latin typeface="Google Sans Text"/>
                        </a:rPr>
                        <a:t>Data Marketplace</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Publicly listing datasets for many consumers.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Monetization, automated discovery, and simplified access.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4120141"/>
                  </a:ext>
                </a:extLst>
              </a:tr>
              <a:tr h="0">
                <a:tc>
                  <a:txBody>
                    <a:bodyPr/>
                    <a:lstStyle/>
                    <a:p>
                      <a:pPr rtl="0">
                        <a:buNone/>
                      </a:pPr>
                      <a:r>
                        <a:rPr lang="en-IN" b="1">
                          <a:solidFill>
                            <a:srgbClr val="1F1F1F"/>
                          </a:solidFill>
                          <a:effectLst/>
                          <a:latin typeface="Google Sans Text"/>
                        </a:rPr>
                        <a:t>Private Exchange</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A "walled garden" for a specific group of partners.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Branding, custom membership, and centralized auditing.</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3045838"/>
                  </a:ext>
                </a:extLst>
              </a:tr>
              <a:tr h="0">
                <a:tc>
                  <a:txBody>
                    <a:bodyPr/>
                    <a:lstStyle/>
                    <a:p>
                      <a:pPr rtl="0">
                        <a:buNone/>
                      </a:pPr>
                      <a:r>
                        <a:rPr lang="en-IN" b="1">
                          <a:solidFill>
                            <a:srgbClr val="1F1F1F"/>
                          </a:solidFill>
                          <a:effectLst/>
                          <a:latin typeface="Google Sans Text"/>
                        </a:rPr>
                        <a:t>Reader Accounts</a:t>
                      </a:r>
                      <a:endParaRPr lang="en-IN">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Sharing with non-Snowflake customers.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Provider-managed/billed accounts for external access.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802966"/>
                  </a:ext>
                </a:extLst>
              </a:tr>
            </a:tbl>
          </a:graphicData>
        </a:graphic>
      </p:graphicFrame>
    </p:spTree>
    <p:extLst>
      <p:ext uri="{BB962C8B-B14F-4D97-AF65-F5344CB8AC3E}">
        <p14:creationId xmlns:p14="http://schemas.microsoft.com/office/powerpoint/2010/main" val="2569622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E73308-D7F2-647B-3C47-C4DB86B7BFB1}"/>
              </a:ext>
            </a:extLst>
          </p:cNvPr>
          <p:cNvSpPr txBox="1"/>
          <p:nvPr/>
        </p:nvSpPr>
        <p:spPr>
          <a:xfrm>
            <a:off x="3834580" y="0"/>
            <a:ext cx="6096000" cy="523220"/>
          </a:xfrm>
          <a:prstGeom prst="rect">
            <a:avLst/>
          </a:prstGeom>
          <a:noFill/>
        </p:spPr>
        <p:txBody>
          <a:bodyPr wrap="square">
            <a:spAutoFit/>
          </a:bodyPr>
          <a:lstStyle/>
          <a:p>
            <a:r>
              <a:rPr lang="en-IN" sz="2800" b="1" dirty="0">
                <a:solidFill>
                  <a:srgbClr val="00B0F0"/>
                </a:solidFill>
              </a:rPr>
              <a:t>Cross-Cloud Auto-</a:t>
            </a:r>
            <a:r>
              <a:rPr lang="en-IN" sz="2800" b="1" dirty="0" err="1">
                <a:solidFill>
                  <a:srgbClr val="00B0F0"/>
                </a:solidFill>
              </a:rPr>
              <a:t>Fulfillment</a:t>
            </a:r>
            <a:r>
              <a:rPr lang="en-IN" sz="2800" b="1" dirty="0">
                <a:solidFill>
                  <a:srgbClr val="00B0F0"/>
                </a:solidFill>
              </a:rPr>
              <a:t> </a:t>
            </a:r>
          </a:p>
        </p:txBody>
      </p:sp>
      <p:sp>
        <p:nvSpPr>
          <p:cNvPr id="5" name="TextBox 4">
            <a:extLst>
              <a:ext uri="{FF2B5EF4-FFF2-40B4-BE49-F238E27FC236}">
                <a16:creationId xmlns:a16="http://schemas.microsoft.com/office/drawing/2014/main" id="{EB2D6CF7-5E15-C618-4693-F3F797D40440}"/>
              </a:ext>
            </a:extLst>
          </p:cNvPr>
          <p:cNvSpPr txBox="1"/>
          <p:nvPr/>
        </p:nvSpPr>
        <p:spPr>
          <a:xfrm>
            <a:off x="0" y="523220"/>
            <a:ext cx="12192000" cy="6186309"/>
          </a:xfrm>
          <a:prstGeom prst="rect">
            <a:avLst/>
          </a:prstGeom>
          <a:noFill/>
        </p:spPr>
        <p:txBody>
          <a:bodyPr wrap="square">
            <a:spAutoFit/>
          </a:bodyPr>
          <a:lstStyle/>
          <a:p>
            <a:pPr>
              <a:buNone/>
            </a:pPr>
            <a:r>
              <a:rPr lang="en-US" b="1" dirty="0"/>
              <a:t>Auto-Fulfillment</a:t>
            </a:r>
            <a:r>
              <a:rPr lang="en-US" dirty="0"/>
              <a:t> is the managed service layer on top of </a:t>
            </a:r>
            <a:r>
              <a:rPr lang="en-US" b="1" dirty="0"/>
              <a:t>Replication</a:t>
            </a:r>
            <a:r>
              <a:rPr lang="en-US" dirty="0"/>
              <a:t>.</a:t>
            </a:r>
          </a:p>
          <a:p>
            <a:pPr>
              <a:buNone/>
            </a:pPr>
            <a:endParaRPr lang="en-US" dirty="0"/>
          </a:p>
          <a:p>
            <a:pPr>
              <a:buNone/>
            </a:pPr>
            <a:endParaRPr lang="en-US" dirty="0"/>
          </a:p>
          <a:p>
            <a:pPr algn="ctr">
              <a:buNone/>
            </a:pPr>
            <a:r>
              <a:rPr lang="en-US" b="1" dirty="0">
                <a:solidFill>
                  <a:srgbClr val="00B0F0"/>
                </a:solidFill>
              </a:rPr>
              <a:t>The Mechanism</a:t>
            </a:r>
          </a:p>
          <a:p>
            <a:pPr algn="ctr">
              <a:buNone/>
            </a:pPr>
            <a:endParaRPr lang="en-US" b="1" dirty="0">
              <a:solidFill>
                <a:srgbClr val="00B0F0"/>
              </a:solidFill>
            </a:endParaRPr>
          </a:p>
          <a:p>
            <a:pPr>
              <a:buNone/>
            </a:pPr>
            <a:r>
              <a:rPr lang="en-US" dirty="0"/>
              <a:t>Auto-fulfillment automates the "Global Data Mesh." When a consumer in a different cloud/region requests data from your Listing:</a:t>
            </a:r>
          </a:p>
          <a:p>
            <a:pPr>
              <a:buNone/>
            </a:pPr>
            <a:endParaRPr lang="en-US" dirty="0"/>
          </a:p>
          <a:p>
            <a:pPr>
              <a:buFont typeface="+mj-lt"/>
              <a:buAutoNum type="arabicPeriod"/>
            </a:pPr>
            <a:r>
              <a:rPr lang="en-US" dirty="0"/>
              <a:t>Snowflake </a:t>
            </a:r>
            <a:r>
              <a:rPr lang="en-US" b="1" dirty="0"/>
              <a:t>automatically</a:t>
            </a:r>
            <a:r>
              <a:rPr lang="en-US" dirty="0"/>
              <a:t> creates a hidden replication group.</a:t>
            </a:r>
          </a:p>
          <a:p>
            <a:pPr>
              <a:buFont typeface="+mj-lt"/>
              <a:buAutoNum type="arabicPeriod"/>
            </a:pPr>
            <a:endParaRPr lang="en-US" dirty="0"/>
          </a:p>
          <a:p>
            <a:pPr>
              <a:buFont typeface="+mj-lt"/>
              <a:buAutoNum type="arabicPeriod"/>
            </a:pPr>
            <a:r>
              <a:rPr lang="en-US" dirty="0"/>
              <a:t>It replicates the data to that region.</a:t>
            </a:r>
          </a:p>
          <a:p>
            <a:pPr>
              <a:buFont typeface="+mj-lt"/>
              <a:buAutoNum type="arabicPeriod"/>
            </a:pPr>
            <a:endParaRPr lang="en-US" dirty="0"/>
          </a:p>
          <a:p>
            <a:pPr>
              <a:buFont typeface="+mj-lt"/>
              <a:buAutoNum type="arabicPeriod"/>
            </a:pPr>
            <a:r>
              <a:rPr lang="en-US" dirty="0"/>
              <a:t>It keeps the data in sync based on a "Freshness Goal" (e.g., every 1 hour).</a:t>
            </a:r>
          </a:p>
          <a:p>
            <a:pPr>
              <a:buFont typeface="+mj-lt"/>
              <a:buAutoNum type="arabicPeriod"/>
            </a:pPr>
            <a:endParaRPr lang="en-US" dirty="0"/>
          </a:p>
          <a:p>
            <a:pPr algn="ctr">
              <a:buNone/>
            </a:pPr>
            <a:r>
              <a:rPr lang="en-US" b="1" dirty="0">
                <a:solidFill>
                  <a:srgbClr val="00B0F0"/>
                </a:solidFill>
              </a:rPr>
              <a:t>Checklist for Auto-Fulfillment:</a:t>
            </a:r>
          </a:p>
          <a:p>
            <a:pPr>
              <a:buNone/>
            </a:pPr>
            <a:endParaRPr lang="en-US" b="1" dirty="0"/>
          </a:p>
          <a:p>
            <a:pPr>
              <a:buFont typeface="Arial" panose="020B0604020202020204" pitchFamily="34" charset="0"/>
              <a:buChar char="•"/>
            </a:pPr>
            <a:r>
              <a:rPr lang="en-US" b="1" dirty="0"/>
              <a:t>Cost:</a:t>
            </a:r>
            <a:r>
              <a:rPr lang="en-US" dirty="0"/>
              <a:t> The Provider pays for the </a:t>
            </a:r>
            <a:r>
              <a:rPr lang="en-US" b="1" dirty="0"/>
              <a:t>Data Transfer</a:t>
            </a:r>
            <a:r>
              <a:rPr lang="en-US" dirty="0"/>
              <a:t> (egress) and the </a:t>
            </a:r>
            <a:r>
              <a:rPr lang="en-US" b="1" dirty="0"/>
              <a:t>Storage</a:t>
            </a:r>
            <a:r>
              <a:rPr lang="en-US" dirty="0"/>
              <a:t> in the remote region.</a:t>
            </a:r>
          </a:p>
          <a:p>
            <a:pPr>
              <a:buFont typeface="Arial" panose="020B0604020202020204" pitchFamily="34" charset="0"/>
              <a:buChar char="•"/>
            </a:pPr>
            <a:endParaRPr lang="en-US" dirty="0"/>
          </a:p>
          <a:p>
            <a:pPr>
              <a:buFont typeface="Arial" panose="020B0604020202020204" pitchFamily="34" charset="0"/>
              <a:buChar char="•"/>
            </a:pPr>
            <a:r>
              <a:rPr lang="en-US" b="1" dirty="0"/>
              <a:t>Editions:</a:t>
            </a:r>
            <a:r>
              <a:rPr lang="en-US" dirty="0"/>
              <a:t> Business Critical (or higher) is often required for certain failover/failback replication features, but standard cross-cloud sharing is available via Listings.</a:t>
            </a:r>
          </a:p>
          <a:p>
            <a:pPr>
              <a:buFont typeface="Arial" panose="020B0604020202020204" pitchFamily="34" charset="0"/>
              <a:buChar char="•"/>
            </a:pPr>
            <a:endParaRPr lang="en-US" dirty="0"/>
          </a:p>
          <a:p>
            <a:pPr>
              <a:buFont typeface="Arial" panose="020B0604020202020204" pitchFamily="34" charset="0"/>
              <a:buChar char="•"/>
            </a:pPr>
            <a:r>
              <a:rPr lang="en-US" b="1" dirty="0"/>
              <a:t>Efficiency:</a:t>
            </a:r>
            <a:r>
              <a:rPr lang="en-US" dirty="0"/>
              <a:t> It only replicates the data once per region, regardless of how many consumers in that specific region "get" the data.</a:t>
            </a:r>
          </a:p>
        </p:txBody>
      </p:sp>
    </p:spTree>
    <p:extLst>
      <p:ext uri="{BB962C8B-B14F-4D97-AF65-F5344CB8AC3E}">
        <p14:creationId xmlns:p14="http://schemas.microsoft.com/office/powerpoint/2010/main" val="21169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7" end="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1547</Words>
  <Application>Microsoft Office PowerPoint</Application>
  <PresentationFormat>Widescreen</PresentationFormat>
  <Paragraphs>155</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Courier New</vt:lpstr>
      <vt:lpstr>Google Sans Text</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Jaswinder Singh</dc:creator>
  <cp:lastModifiedBy>Jaswinder Singh</cp:lastModifiedBy>
  <cp:revision>1</cp:revision>
  <dcterms:created xsi:type="dcterms:W3CDTF">2026-10-04T11:20:01Z</dcterms:created>
  <dcterms:modified xsi:type="dcterms:W3CDTF">2026-10-04T11:20:19Z</dcterms:modified>
</cp:coreProperties>
</file>